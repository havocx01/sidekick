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Clean Lab Telemetry</c:v>
                </c:pt>
              </c:strCache>
            </c:strRef>
          </c:tx>
          <c:spPr>
            <a:solidFill>
              <a:srgbClr val="1B6AA5"/>
            </a:solidFill>
            <a:effectLst/>
          </c:spPr>
          <c:invertIfNegative val="0"/>
          <c:dLbls>
            <c:numFmt formatCode="0.0&quot;%&quot;"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Logistic Regression</c:v>
                  </c:pt>
                  <c:pt idx="1">
                    <c:v>Age Baseline</c:v>
                  </c:pt>
                  <c:pt idx="2">
                    <c:v>Sidekick (Augmented)</c:v>
                  </c:pt>
                </c:lvl>
              </c:multiLvlStrCache>
            </c:multiLvlStrRef>
          </c:cat>
          <c:val>
            <c:numRef>
              <c:f>Sheet1!$B$2:$B$4</c:f>
              <c:numCache>
                <c:formatCode>General</c:formatCode>
                <c:ptCount val="3"/>
                <c:pt idx="0">
                  <c:v>100</c:v>
                </c:pt>
                <c:pt idx="1">
                  <c:v>70</c:v>
                </c:pt>
                <c:pt idx="2">
                  <c:v>100</c:v>
                </c:pt>
              </c:numCache>
            </c:numRef>
          </c:val>
        </c:ser>
        <c:ser>
          <c:idx val="1"/>
          <c:order val="1"/>
          <c:tx>
            <c:strRef>
              <c:f>Sheet1!$C$1</c:f>
              <c:strCache>
                <c:ptCount val="1"/>
                <c:pt idx="0">
                  <c:v>Worst Sensor Fault Case</c:v>
                </c:pt>
              </c:strCache>
            </c:strRef>
          </c:tx>
          <c:spPr>
            <a:solidFill>
              <a:srgbClr val="D81E2E"/>
            </a:solidFill>
            <a:effectLst/>
          </c:spPr>
          <c:invertIfNegative val="0"/>
          <c:dLbls>
            <c:numFmt formatCode="0.0&quot;%&quot;"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Logistic Regression</c:v>
                  </c:pt>
                  <c:pt idx="1">
                    <c:v>Age Baseline</c:v>
                  </c:pt>
                  <c:pt idx="2">
                    <c:v>Sidekick (Augmented)</c:v>
                  </c:pt>
                </c:lvl>
              </c:multiLvlStrCache>
            </c:multiLvlStrRef>
          </c:cat>
          <c:val>
            <c:numRef>
              <c:f>Sheet1!$C$2:$C$4</c:f>
              <c:numCache>
                <c:formatCode>General</c:formatCode>
                <c:ptCount val="3"/>
                <c:pt idx="0">
                  <c:v>51.2</c:v>
                </c:pt>
                <c:pt idx="1">
                  <c:v>70</c:v>
                </c:pt>
                <c:pt idx="2">
                  <c:v>98.8</c:v>
                </c:pt>
              </c:numCache>
            </c:numRef>
          </c:val>
        </c:ser>
        <c:dLbls>
          <c:numFmt formatCode="0.0&quot;%&quot;"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Sidekick. In safety-critical industrial operations, predictive models boast high accuracy in development but frequently suffer catastrophic failure when physical sensors drift, freeze, or drop out. Sidekick is an automated platform that hardens, stress-tests, and certifies failure-warning models before industrial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plant floors present physical hazards for sensors. Drift, stuck ADCs, and dropped packets are routine. Yet standard predictive models are tested solely on clean data, leaving plant operators unprotected when sensors degrade.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injected realistic single-sensor drift into standard logistic models on 80 NASA turbofan engines, detection collapsed from 100% to 51.2%. Nearly half the fleet broke down with zero alert. This is the hidden risk in un-stress-tested industrial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Sidekick addresses sensor vulnerability through a 3-part framework: (1) simulating 2,470+ fault combinations, (2) training fault-augmented models that learn cross-channel redundancy, and (3) enforcing strict acceptance gates before any model is certified for plant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our empirical results on NASA C-MAPSS data. While standard models collapse from 100% to 51.2% under fault—falling below a basic 70% calendar replacement rule—Sidekick holds 98.8% detection, suffering only a 1.2% drop under the worst sensor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Sidekick in action on a real machine: Turbofan Engine #012. At cycle 130, severe sensor drift is injected. While standard models produce no warning and run blindly into failure at cycle 166, Sidekick sounds the alert at cycle 148—giving plant operators 18 full cycles of actionable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Sidekick supports two distinct operational modes: a complete experimentation pipeline in Python and React for data scientists, and an air-gapped Docker container for secure plant floors with all outbound networking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ABB, Sidekick offers a clear competitive edge: protecting plant uptime, eliminating control room alarm fatigue, and providing a differentiated Sensor-Resilient AI certification for ABB Ability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12-month roadmap moves from today’s validated NASA benchmark into direct ABB industrial pilot testing in Q3, edge sensor deployment in Q4, and full fleet-wide autonomous intelligence in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In summary: Sidekick solves the hidden vulnerability of predictive maintenance AI. We look forward to collaborating with ABB on customer pilot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005840"/>
            <a:ext cx="768096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Arial" pitchFamily="34" charset="0"/>
                <a:ea typeface="Arial" pitchFamily="34" charset="-122"/>
                <a:cs typeface="Arial" pitchFamily="34" charset="-120"/>
              </a:rPr>
              <a:t>ABB ACCELERATOR 2026 • THEME 1: INDUSTRIAL AI &amp; RELIABILITY</a:t>
            </a:r>
            <a:endParaRPr lang="en-US" sz="1100" dirty="0"/>
          </a:p>
        </p:txBody>
      </p:sp>
      <p:sp>
        <p:nvSpPr>
          <p:cNvPr id="3" name="Text 1"/>
          <p:cNvSpPr/>
          <p:nvPr/>
        </p:nvSpPr>
        <p:spPr>
          <a:xfrm>
            <a:off x="731520" y="1325880"/>
            <a:ext cx="7680960" cy="914400"/>
          </a:xfrm>
          <a:prstGeom prst="rect">
            <a:avLst/>
          </a:prstGeom>
          <a:noFill/>
          <a:ln/>
        </p:spPr>
        <p:txBody>
          <a:bodyPr wrap="square" lIns="0" tIns="0" rIns="0" bIns="0" rtlCol="0" anchor="ctr"/>
          <a:lstStyle/>
          <a:p>
            <a:pPr indent="0" marL="0">
              <a:buNone/>
            </a:pPr>
            <a:r>
              <a:rPr lang="en-US" sz="5600" b="1" dirty="0">
                <a:solidFill>
                  <a:srgbClr val="FFFFFF"/>
                </a:solidFill>
                <a:latin typeface="Arial" pitchFamily="34" charset="0"/>
                <a:ea typeface="Arial" pitchFamily="34" charset="-122"/>
                <a:cs typeface="Arial" pitchFamily="34" charset="-120"/>
              </a:rPr>
              <a:t>SIDE</a:t>
            </a:r>
            <a:pPr indent="0" marL="0">
              <a:buNone/>
            </a:pPr>
            <a:r>
              <a:rPr lang="en-US" sz="5600" b="1" dirty="0">
                <a:solidFill>
                  <a:srgbClr val="D81E2E"/>
                </a:solidFill>
                <a:latin typeface="Arial" pitchFamily="34" charset="0"/>
                <a:ea typeface="Arial" pitchFamily="34" charset="-122"/>
                <a:cs typeface="Arial" pitchFamily="34" charset="-120"/>
              </a:rPr>
              <a:t>KICK</a:t>
            </a:r>
            <a:endParaRPr lang="en-US" sz="5600" dirty="0"/>
          </a:p>
        </p:txBody>
      </p:sp>
      <p:sp>
        <p:nvSpPr>
          <p:cNvPr id="4" name="Text 2"/>
          <p:cNvSpPr/>
          <p:nvPr/>
        </p:nvSpPr>
        <p:spPr>
          <a:xfrm>
            <a:off x="731520" y="2286000"/>
            <a:ext cx="7680960" cy="73152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Stress-Testing Equipment Failure-Warning Models Against Real-World Sensor Faults</a:t>
            </a:r>
            <a:endParaRPr lang="en-US" sz="1800" dirty="0"/>
          </a:p>
        </p:txBody>
      </p:sp>
      <p:sp>
        <p:nvSpPr>
          <p:cNvPr id="5" name="Shape 3"/>
          <p:cNvSpPr/>
          <p:nvPr/>
        </p:nvSpPr>
        <p:spPr>
          <a:xfrm>
            <a:off x="731520" y="3200400"/>
            <a:ext cx="7680960" cy="594360"/>
          </a:xfrm>
          <a:prstGeom prst="roundRect">
            <a:avLst>
              <a:gd name="adj" fmla="val 12308"/>
            </a:avLst>
          </a:prstGeom>
          <a:solidFill>
            <a:srgbClr val="151B23"/>
          </a:solidFill>
          <a:ln w="12700">
            <a:solidFill>
              <a:srgbClr val="253141"/>
            </a:solidFill>
            <a:prstDash val="solid"/>
          </a:ln>
        </p:spPr>
      </p:sp>
      <p:sp>
        <p:nvSpPr>
          <p:cNvPr id="6" name="Text 4"/>
          <p:cNvSpPr/>
          <p:nvPr/>
        </p:nvSpPr>
        <p:spPr>
          <a:xfrm>
            <a:off x="914400" y="3200400"/>
            <a:ext cx="7315200" cy="594360"/>
          </a:xfrm>
          <a:prstGeom prst="rect">
            <a:avLst/>
          </a:prstGeom>
          <a:noFill/>
          <a:ln/>
        </p:spPr>
        <p:txBody>
          <a:bodyPr wrap="square" rtlCol="0" anchor="ctr"/>
          <a:lstStyle/>
          <a:p>
            <a:pPr algn="ctr" indent="0" marL="0">
              <a:buNone/>
            </a:pPr>
            <a:r>
              <a:rPr lang="en-US" sz="1200" b="1" dirty="0">
                <a:solidFill>
                  <a:srgbClr val="38BDF8"/>
                </a:solidFill>
                <a:latin typeface="Calibri" pitchFamily="34" charset="0"/>
                <a:ea typeface="Calibri" pitchFamily="34" charset="-122"/>
                <a:cs typeface="Calibri" pitchFamily="34" charset="-120"/>
              </a:rPr>
              <a:t>• 2,470+ Fault Scenarios Tested   </a:t>
            </a:r>
            <a:pPr algn="ctr" indent="0" marL="0">
              <a:buNone/>
            </a:pPr>
            <a:r>
              <a:rPr lang="en-US" sz="1200" b="1" dirty="0">
                <a:solidFill>
                  <a:srgbClr val="10B981"/>
                </a:solidFill>
                <a:latin typeface="Calibri" pitchFamily="34" charset="0"/>
                <a:ea typeface="Calibri" pitchFamily="34" charset="-122"/>
                <a:cs typeface="Calibri" pitchFamily="34" charset="-120"/>
              </a:rPr>
              <a:t>• NASA C-MAPSS Benchmark   </a:t>
            </a:r>
            <a:pPr algn="ctr" indent="0" marL="0">
              <a:buNone/>
            </a:pPr>
            <a:r>
              <a:rPr lang="en-US" sz="1200" b="1" dirty="0">
                <a:solidFill>
                  <a:srgbClr val="FFFFFF"/>
                </a:solidFill>
                <a:latin typeface="Calibri" pitchFamily="34" charset="0"/>
                <a:ea typeface="Calibri" pitchFamily="34" charset="-122"/>
                <a:cs typeface="Calibri" pitchFamily="34" charset="-120"/>
              </a:rPr>
              <a:t>• Audit-Ready Evidence Bundle</a:t>
            </a:r>
            <a:endParaRPr lang="en-US" sz="1200" dirty="0"/>
          </a:p>
        </p:txBody>
      </p:sp>
      <p:sp>
        <p:nvSpPr>
          <p:cNvPr id="7" name="Text 5"/>
          <p:cNvSpPr/>
          <p:nvPr/>
        </p:nvSpPr>
        <p:spPr>
          <a:xfrm>
            <a:off x="731520" y="4389120"/>
            <a:ext cx="768096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Built by Adam Qablawi &amp; Kareem Massoud  |  ABB Accelerator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THE INDUSTRIAL REALITY
</a:t>
            </a:r>
            <a:pPr indent="0" marL="0">
              <a:buNone/>
            </a:pPr>
            <a:r>
              <a:rPr lang="en-US" sz="2200" b="1" dirty="0">
                <a:solidFill>
                  <a:srgbClr val="0F172A"/>
                </a:solidFill>
                <a:latin typeface="Arial" pitchFamily="34" charset="0"/>
                <a:ea typeface="Arial" pitchFamily="34" charset="-122"/>
                <a:cs typeface="Arial" pitchFamily="34" charset="-120"/>
              </a:rPr>
              <a:t>The Lab Illusion: 100% in Research, Blind in the Plant</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Machine learning models assume pristine sensor feeds, but plant environments are hostile.</a:t>
            </a:r>
            <a:endParaRPr lang="en-US" sz="1200" dirty="0"/>
          </a:p>
        </p:txBody>
      </p:sp>
      <p:sp>
        <p:nvSpPr>
          <p:cNvPr id="4" name="Shape 2"/>
          <p:cNvSpPr/>
          <p:nvPr/>
        </p:nvSpPr>
        <p:spPr>
          <a:xfrm>
            <a:off x="731520" y="1600200"/>
            <a:ext cx="2423160" cy="3017520"/>
          </a:xfrm>
          <a:prstGeom prst="roundRect">
            <a:avLst>
              <a:gd name="adj" fmla="val 3019"/>
            </a:avLst>
          </a:prstGeom>
          <a:solidFill>
            <a:srgbClr val="FFFFFF"/>
          </a:solidFill>
          <a:ln w="12700">
            <a:solidFill>
              <a:srgbClr val="E2E8F0"/>
            </a:solidFill>
            <a:prstDash val="solid"/>
          </a:ln>
        </p:spPr>
      </p:sp>
      <p:sp>
        <p:nvSpPr>
          <p:cNvPr id="5" name="Text 3"/>
          <p:cNvSpPr/>
          <p:nvPr/>
        </p:nvSpPr>
        <p:spPr>
          <a:xfrm>
            <a:off x="960120" y="1828800"/>
            <a:ext cx="1965960" cy="228600"/>
          </a:xfrm>
          <a:prstGeom prst="rect">
            <a:avLst/>
          </a:prstGeom>
          <a:noFill/>
          <a:ln/>
        </p:spPr>
        <p:txBody>
          <a:bodyPr wrap="square" lIns="0" tIns="0" rIns="0" bIns="0" rtlCol="0" anchor="ctr"/>
          <a:lstStyle/>
          <a:p>
            <a:pPr indent="0" marL="0">
              <a:buNone/>
            </a:pPr>
            <a:r>
              <a:rPr lang="en-US" sz="1000" b="1" dirty="0">
                <a:solidFill>
                  <a:srgbClr val="1B6AA5"/>
                </a:solidFill>
              </a:rPr>
              <a:t>SENSOR DRIFT</a:t>
            </a:r>
            <a:endParaRPr lang="en-US" sz="1000" dirty="0"/>
          </a:p>
        </p:txBody>
      </p:sp>
      <p:sp>
        <p:nvSpPr>
          <p:cNvPr id="6" name="Text 4"/>
          <p:cNvSpPr/>
          <p:nvPr/>
        </p:nvSpPr>
        <p:spPr>
          <a:xfrm>
            <a:off x="960120"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Calibration Decay</a:t>
            </a:r>
            <a:endParaRPr lang="en-US" sz="1500" dirty="0"/>
          </a:p>
        </p:txBody>
      </p:sp>
      <p:sp>
        <p:nvSpPr>
          <p:cNvPr id="7" name="Text 5"/>
          <p:cNvSpPr/>
          <p:nvPr/>
        </p:nvSpPr>
        <p:spPr>
          <a:xfrm>
            <a:off x="960120"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Thermal cycling &amp; fouling degrade sensor calibration slowly over hundreds of operational hours.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Models mistake gradual sensor drift for a baseline shift, failing to trigger emergency warnings.</a:t>
            </a:r>
            <a:endParaRPr lang="en-US" sz="1150" dirty="0"/>
          </a:p>
        </p:txBody>
      </p:sp>
      <p:sp>
        <p:nvSpPr>
          <p:cNvPr id="8" name="Shape 6"/>
          <p:cNvSpPr/>
          <p:nvPr/>
        </p:nvSpPr>
        <p:spPr>
          <a:xfrm>
            <a:off x="3355848" y="1600200"/>
            <a:ext cx="2423160" cy="3017520"/>
          </a:xfrm>
          <a:prstGeom prst="roundRect">
            <a:avLst>
              <a:gd name="adj" fmla="val 3019"/>
            </a:avLst>
          </a:prstGeom>
          <a:solidFill>
            <a:srgbClr val="FFFFFF"/>
          </a:solidFill>
          <a:ln w="12700">
            <a:solidFill>
              <a:srgbClr val="E2E8F0"/>
            </a:solidFill>
            <a:prstDash val="solid"/>
          </a:ln>
        </p:spPr>
      </p:sp>
      <p:sp>
        <p:nvSpPr>
          <p:cNvPr id="9" name="Text 7"/>
          <p:cNvSpPr/>
          <p:nvPr/>
        </p:nvSpPr>
        <p:spPr>
          <a:xfrm>
            <a:off x="3584448" y="1828800"/>
            <a:ext cx="1965960" cy="228600"/>
          </a:xfrm>
          <a:prstGeom prst="rect">
            <a:avLst/>
          </a:prstGeom>
          <a:noFill/>
          <a:ln/>
        </p:spPr>
        <p:txBody>
          <a:bodyPr wrap="square" lIns="0" tIns="0" rIns="0" bIns="0" rtlCol="0" anchor="ctr"/>
          <a:lstStyle/>
          <a:p>
            <a:pPr indent="0" marL="0">
              <a:buNone/>
            </a:pPr>
            <a:r>
              <a:rPr lang="en-US" sz="1000" b="1" dirty="0">
                <a:solidFill>
                  <a:srgbClr val="D81E2E"/>
                </a:solidFill>
              </a:rPr>
              <a:t>STUCK READINGS</a:t>
            </a:r>
            <a:endParaRPr lang="en-US" sz="1000" dirty="0"/>
          </a:p>
        </p:txBody>
      </p:sp>
      <p:sp>
        <p:nvSpPr>
          <p:cNvPr id="10" name="Text 8"/>
          <p:cNvSpPr/>
          <p:nvPr/>
        </p:nvSpPr>
        <p:spPr>
          <a:xfrm>
            <a:off x="3584448"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Locked Sensors</a:t>
            </a:r>
            <a:endParaRPr lang="en-US" sz="1500" dirty="0"/>
          </a:p>
        </p:txBody>
      </p:sp>
      <p:sp>
        <p:nvSpPr>
          <p:cNvPr id="11" name="Text 9"/>
          <p:cNvSpPr/>
          <p:nvPr/>
        </p:nvSpPr>
        <p:spPr>
          <a:xfrm>
            <a:off x="3584448"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Sticky valves, unseated probes, or frozen ADC converters report identical repeat readings.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Tree and regression models fail to recognize imminent stalls when key channels flatline.</a:t>
            </a:r>
            <a:endParaRPr lang="en-US" sz="1150" dirty="0"/>
          </a:p>
        </p:txBody>
      </p:sp>
      <p:sp>
        <p:nvSpPr>
          <p:cNvPr id="12" name="Shape 10"/>
          <p:cNvSpPr/>
          <p:nvPr/>
        </p:nvSpPr>
        <p:spPr>
          <a:xfrm>
            <a:off x="5980176" y="1600200"/>
            <a:ext cx="2423160" cy="3017520"/>
          </a:xfrm>
          <a:prstGeom prst="roundRect">
            <a:avLst>
              <a:gd name="adj" fmla="val 3019"/>
            </a:avLst>
          </a:prstGeom>
          <a:solidFill>
            <a:srgbClr val="FFFFFF"/>
          </a:solidFill>
          <a:ln w="12700">
            <a:solidFill>
              <a:srgbClr val="E2E8F0"/>
            </a:solidFill>
            <a:prstDash val="solid"/>
          </a:ln>
        </p:spPr>
      </p:sp>
      <p:sp>
        <p:nvSpPr>
          <p:cNvPr id="13" name="Text 11"/>
          <p:cNvSpPr/>
          <p:nvPr/>
        </p:nvSpPr>
        <p:spPr>
          <a:xfrm>
            <a:off x="6208776" y="1828800"/>
            <a:ext cx="1965960" cy="228600"/>
          </a:xfrm>
          <a:prstGeom prst="rect">
            <a:avLst/>
          </a:prstGeom>
          <a:noFill/>
          <a:ln/>
        </p:spPr>
        <p:txBody>
          <a:bodyPr wrap="square" lIns="0" tIns="0" rIns="0" bIns="0" rtlCol="0" anchor="ctr"/>
          <a:lstStyle/>
          <a:p>
            <a:pPr indent="0" marL="0">
              <a:buNone/>
            </a:pPr>
            <a:r>
              <a:rPr lang="en-US" sz="1000" b="1" dirty="0">
                <a:solidFill>
                  <a:srgbClr val="D97706"/>
                </a:solidFill>
              </a:rPr>
              <a:t>DATA DROPOUT</a:t>
            </a:r>
            <a:endParaRPr lang="en-US" sz="1000" dirty="0"/>
          </a:p>
        </p:txBody>
      </p:sp>
      <p:sp>
        <p:nvSpPr>
          <p:cNvPr id="14" name="Text 12"/>
          <p:cNvSpPr/>
          <p:nvPr/>
        </p:nvSpPr>
        <p:spPr>
          <a:xfrm>
            <a:off x="6208776"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Intermittent Feeds</a:t>
            </a:r>
            <a:endParaRPr lang="en-US" sz="1500" dirty="0"/>
          </a:p>
        </p:txBody>
      </p:sp>
      <p:sp>
        <p:nvSpPr>
          <p:cNvPr id="15" name="Text 13"/>
          <p:cNvSpPr/>
          <p:nvPr/>
        </p:nvSpPr>
        <p:spPr>
          <a:xfrm>
            <a:off x="6208776"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Electrical noise and bus communication packet loss cause missing telemetry cycles.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Standard imputation strategies distort features, blindsiding alert algorithms in the field.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EMPIRICAL DISCOVERY
</a:t>
            </a:r>
            <a:pPr indent="0" marL="0">
              <a:buNone/>
            </a:pPr>
            <a:r>
              <a:rPr lang="en-US" sz="2200" b="1" dirty="0">
                <a:solidFill>
                  <a:srgbClr val="0F172A"/>
                </a:solidFill>
                <a:latin typeface="Arial" pitchFamily="34" charset="0"/>
                <a:ea typeface="Arial" pitchFamily="34" charset="-122"/>
                <a:cs typeface="Arial" pitchFamily="34" charset="-120"/>
              </a:rPr>
              <a:t>A Single Sensor Fault Drops Detection from 100% to 51%</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Evaluating 80 NASA turbofan engines revealed a catastrophic vulnerability in standard models.</a:t>
            </a:r>
            <a:endParaRPr lang="en-US" sz="1200" dirty="0"/>
          </a:p>
        </p:txBody>
      </p:sp>
      <p:sp>
        <p:nvSpPr>
          <p:cNvPr id="4" name="Shape 2"/>
          <p:cNvSpPr/>
          <p:nvPr/>
        </p:nvSpPr>
        <p:spPr>
          <a:xfrm>
            <a:off x="731520" y="1600200"/>
            <a:ext cx="3749040" cy="1417320"/>
          </a:xfrm>
          <a:prstGeom prst="roundRect">
            <a:avLst>
              <a:gd name="adj" fmla="val 5161"/>
            </a:avLst>
          </a:prstGeom>
          <a:solidFill>
            <a:srgbClr val="EFF6FF"/>
          </a:solidFill>
          <a:ln w="12700">
            <a:solidFill>
              <a:srgbClr val="BFDBFE"/>
            </a:solidFill>
            <a:prstDash val="solid"/>
          </a:ln>
        </p:spPr>
      </p:sp>
      <p:sp>
        <p:nvSpPr>
          <p:cNvPr id="5" name="Text 3"/>
          <p:cNvSpPr/>
          <p:nvPr/>
        </p:nvSpPr>
        <p:spPr>
          <a:xfrm>
            <a:off x="960120" y="1691640"/>
            <a:ext cx="3291840" cy="640080"/>
          </a:xfrm>
          <a:prstGeom prst="rect">
            <a:avLst/>
          </a:prstGeom>
          <a:noFill/>
          <a:ln/>
        </p:spPr>
        <p:txBody>
          <a:bodyPr wrap="square" lIns="0" tIns="0" rIns="0" bIns="0" rtlCol="0" anchor="ctr"/>
          <a:lstStyle/>
          <a:p>
            <a:pPr indent="0" marL="0">
              <a:buNone/>
            </a:pPr>
            <a:r>
              <a:rPr lang="en-US" sz="4000" b="1" dirty="0">
                <a:solidFill>
                  <a:srgbClr val="1B6AA5"/>
                </a:solidFill>
                <a:latin typeface="Arial" pitchFamily="34" charset="0"/>
                <a:ea typeface="Arial" pitchFamily="34" charset="-122"/>
                <a:cs typeface="Arial" pitchFamily="34" charset="-120"/>
              </a:rPr>
              <a:t>100.0%</a:t>
            </a:r>
            <a:endParaRPr lang="en-US" sz="4000" dirty="0"/>
          </a:p>
        </p:txBody>
      </p:sp>
      <p:sp>
        <p:nvSpPr>
          <p:cNvPr id="6" name="Text 4"/>
          <p:cNvSpPr/>
          <p:nvPr/>
        </p:nvSpPr>
        <p:spPr>
          <a:xfrm>
            <a:off x="960120" y="233172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Clean Laboratory Detection Rate</a:t>
            </a:r>
            <a:endParaRPr lang="en-US" sz="1300" dirty="0"/>
          </a:p>
        </p:txBody>
      </p:sp>
      <p:sp>
        <p:nvSpPr>
          <p:cNvPr id="7" name="Text 5"/>
          <p:cNvSpPr/>
          <p:nvPr/>
        </p:nvSpPr>
        <p:spPr>
          <a:xfrm>
            <a:off x="960120" y="2606040"/>
            <a:ext cx="3291840" cy="320040"/>
          </a:xfrm>
          <a:prstGeom prst="rect">
            <a:avLst/>
          </a:prstGeom>
          <a:noFill/>
          <a:ln/>
        </p:spPr>
        <p:txBody>
          <a:bodyPr wrap="square" lIns="0" tIns="0" rIns="0" bIns="0" rtlCol="0" anchor="ctr"/>
          <a:lstStyle/>
          <a:p>
            <a:pPr indent="0" marL="0">
              <a:buNone/>
            </a:pPr>
            <a:r>
              <a:rPr lang="en-US" sz="1050" dirty="0">
                <a:solidFill>
                  <a:srgbClr val="64748B"/>
                </a:solidFill>
              </a:rPr>
              <a:t>80 of 80 engine failures warned 10-30 cycles in advance on perfect data.</a:t>
            </a:r>
            <a:endParaRPr lang="en-US" sz="1050" dirty="0"/>
          </a:p>
        </p:txBody>
      </p:sp>
      <p:sp>
        <p:nvSpPr>
          <p:cNvPr id="8" name="Shape 6"/>
          <p:cNvSpPr/>
          <p:nvPr/>
        </p:nvSpPr>
        <p:spPr>
          <a:xfrm>
            <a:off x="731520" y="3154680"/>
            <a:ext cx="3749040" cy="1463040"/>
          </a:xfrm>
          <a:prstGeom prst="roundRect">
            <a:avLst>
              <a:gd name="adj" fmla="val 5000"/>
            </a:avLst>
          </a:prstGeom>
          <a:solidFill>
            <a:srgbClr val="FEF2F2"/>
          </a:solidFill>
          <a:ln w="12700">
            <a:solidFill>
              <a:srgbClr val="FECACA"/>
            </a:solidFill>
            <a:prstDash val="solid"/>
          </a:ln>
        </p:spPr>
      </p:sp>
      <p:sp>
        <p:nvSpPr>
          <p:cNvPr id="9" name="Text 7"/>
          <p:cNvSpPr/>
          <p:nvPr/>
        </p:nvSpPr>
        <p:spPr>
          <a:xfrm>
            <a:off x="960120" y="3246120"/>
            <a:ext cx="3291840" cy="640080"/>
          </a:xfrm>
          <a:prstGeom prst="rect">
            <a:avLst/>
          </a:prstGeom>
          <a:noFill/>
          <a:ln/>
        </p:spPr>
        <p:txBody>
          <a:bodyPr wrap="square" lIns="0" tIns="0" rIns="0" bIns="0" rtlCol="0" anchor="ctr"/>
          <a:lstStyle/>
          <a:p>
            <a:pPr indent="0" marL="0">
              <a:buNone/>
            </a:pPr>
            <a:r>
              <a:rPr lang="en-US" sz="4000" b="1" dirty="0">
                <a:solidFill>
                  <a:srgbClr val="D81E2E"/>
                </a:solidFill>
                <a:latin typeface="Arial" pitchFamily="34" charset="0"/>
                <a:ea typeface="Arial" pitchFamily="34" charset="-122"/>
                <a:cs typeface="Arial" pitchFamily="34" charset="-120"/>
              </a:rPr>
              <a:t>51.2%</a:t>
            </a:r>
            <a:endParaRPr lang="en-US" sz="4000" dirty="0"/>
          </a:p>
        </p:txBody>
      </p:sp>
      <p:sp>
        <p:nvSpPr>
          <p:cNvPr id="10" name="Text 8"/>
          <p:cNvSpPr/>
          <p:nvPr/>
        </p:nvSpPr>
        <p:spPr>
          <a:xfrm>
            <a:off x="960120" y="3886200"/>
            <a:ext cx="3291840" cy="274320"/>
          </a:xfrm>
          <a:prstGeom prst="rect">
            <a:avLst/>
          </a:prstGeom>
          <a:noFill/>
          <a:ln/>
        </p:spPr>
        <p:txBody>
          <a:bodyPr wrap="square" lIns="0" tIns="0" rIns="0" bIns="0" rtlCol="0" anchor="ctr"/>
          <a:lstStyle/>
          <a:p>
            <a:pPr indent="0" marL="0">
              <a:buNone/>
            </a:pPr>
            <a:r>
              <a:rPr lang="en-US" sz="1300" b="1" dirty="0">
                <a:solidFill>
                  <a:srgbClr val="D81E2E"/>
                </a:solidFill>
              </a:rPr>
              <a:t>Detection Rate Under Single Sensor Drift</a:t>
            </a:r>
            <a:endParaRPr lang="en-US" sz="1300" dirty="0"/>
          </a:p>
        </p:txBody>
      </p:sp>
      <p:sp>
        <p:nvSpPr>
          <p:cNvPr id="11" name="Text 9"/>
          <p:cNvSpPr/>
          <p:nvPr/>
        </p:nvSpPr>
        <p:spPr>
          <a:xfrm>
            <a:off x="960120" y="4160520"/>
            <a:ext cx="3291840" cy="320040"/>
          </a:xfrm>
          <a:prstGeom prst="rect">
            <a:avLst/>
          </a:prstGeom>
          <a:noFill/>
          <a:ln/>
        </p:spPr>
        <p:txBody>
          <a:bodyPr wrap="square" lIns="0" tIns="0" rIns="0" bIns="0" rtlCol="0" anchor="ctr"/>
          <a:lstStyle/>
          <a:p>
            <a:pPr indent="0" marL="0">
              <a:buNone/>
            </a:pPr>
            <a:r>
              <a:rPr lang="en-US" sz="1050" dirty="0">
                <a:solidFill>
                  <a:srgbClr val="64748B"/>
                </a:solidFill>
              </a:rPr>
              <a:t>Logistic Regression collapsed by -48.8% under a single drifting channel.</a:t>
            </a:r>
            <a:endParaRPr lang="en-US" sz="1050" dirty="0"/>
          </a:p>
        </p:txBody>
      </p:sp>
      <p:sp>
        <p:nvSpPr>
          <p:cNvPr id="12" name="Shape 10"/>
          <p:cNvSpPr/>
          <p:nvPr/>
        </p:nvSpPr>
        <p:spPr>
          <a:xfrm>
            <a:off x="4709160" y="1600200"/>
            <a:ext cx="3703320" cy="3017520"/>
          </a:xfrm>
          <a:prstGeom prst="roundRect">
            <a:avLst>
              <a:gd name="adj" fmla="val 2424"/>
            </a:avLst>
          </a:prstGeom>
          <a:solidFill>
            <a:srgbClr val="FFFFFF"/>
          </a:solidFill>
          <a:ln w="12700">
            <a:solidFill>
              <a:srgbClr val="E2E8F0"/>
            </a:solidFill>
            <a:prstDash val="solid"/>
          </a:ln>
        </p:spPr>
      </p:sp>
      <p:sp>
        <p:nvSpPr>
          <p:cNvPr id="13" name="Text 11"/>
          <p:cNvSpPr/>
          <p:nvPr/>
        </p:nvSpPr>
        <p:spPr>
          <a:xfrm>
            <a:off x="4937760" y="1828800"/>
            <a:ext cx="3200400" cy="228600"/>
          </a:xfrm>
          <a:prstGeom prst="rect">
            <a:avLst/>
          </a:prstGeom>
          <a:noFill/>
          <a:ln/>
        </p:spPr>
        <p:txBody>
          <a:bodyPr wrap="square" lIns="0" tIns="0" rIns="0" bIns="0" rtlCol="0" anchor="ctr"/>
          <a:lstStyle/>
          <a:p>
            <a:pPr indent="0" marL="0">
              <a:buNone/>
            </a:pPr>
            <a:r>
              <a:rPr lang="en-US" sz="1000" b="1" dirty="0">
                <a:solidFill>
                  <a:srgbClr val="1B6AA5"/>
                </a:solidFill>
              </a:rPr>
              <a:t>THE PLANT IMPACT</a:t>
            </a:r>
            <a:endParaRPr lang="en-US" sz="1000" dirty="0"/>
          </a:p>
        </p:txBody>
      </p:sp>
      <p:sp>
        <p:nvSpPr>
          <p:cNvPr id="14" name="Text 12"/>
          <p:cNvSpPr/>
          <p:nvPr/>
        </p:nvSpPr>
        <p:spPr>
          <a:xfrm>
            <a:off x="4937760" y="2057400"/>
            <a:ext cx="3200400" cy="320040"/>
          </a:xfrm>
          <a:prstGeom prst="rect">
            <a:avLst/>
          </a:prstGeom>
          <a:noFill/>
          <a:ln/>
        </p:spPr>
        <p:txBody>
          <a:bodyPr wrap="square" lIns="0" tIns="0" rIns="0" bIns="0" rtlCol="0" anchor="ctr"/>
          <a:lstStyle/>
          <a:p>
            <a:pPr indent="0" marL="0">
              <a:buNone/>
            </a:pPr>
            <a:r>
              <a:rPr lang="en-US" sz="1400" b="1" dirty="0">
                <a:solidFill>
                  <a:srgbClr val="0F172A"/>
                </a:solidFill>
              </a:rPr>
              <a:t>Why Sensor Resilience Is Mission-Critical</a:t>
            </a:r>
            <a:endParaRPr lang="en-US" sz="1400" dirty="0"/>
          </a:p>
        </p:txBody>
      </p:sp>
      <p:sp>
        <p:nvSpPr>
          <p:cNvPr id="15" name="Text 13"/>
          <p:cNvSpPr/>
          <p:nvPr/>
        </p:nvSpPr>
        <p:spPr>
          <a:xfrm>
            <a:off x="4937760" y="2423160"/>
            <a:ext cx="3200400" cy="2011680"/>
          </a:xfrm>
          <a:prstGeom prst="rect">
            <a:avLst/>
          </a:prstGeom>
          <a:noFill/>
          <a:ln/>
        </p:spPr>
        <p:txBody>
          <a:bodyPr wrap="square" rtlCol="0" anchor="ctr"/>
          <a:lstStyle/>
          <a:p>
            <a:pPr indent="0" marL="0">
              <a:spcAft>
                <a:spcPts val="1000"/>
              </a:spcAft>
              <a:buNone/>
            </a:pPr>
            <a:r>
              <a:rPr lang="en-US" sz="1100" b="1" dirty="0">
                <a:solidFill>
                  <a:srgbClr val="0F172A"/>
                </a:solidFill>
                <a:latin typeface="Calibri" pitchFamily="34" charset="0"/>
                <a:ea typeface="Calibri" pitchFamily="34" charset="-122"/>
                <a:cs typeface="Calibri" pitchFamily="34" charset="-120"/>
              </a:rPr>
              <a:t>Silent Run-to-Failure:</a:t>
            </a:r>
            <a:pPr indent="0" marL="0">
              <a:spcAft>
                <a:spcPts val="1000"/>
              </a:spcAft>
              <a:buNone/>
            </a:pPr>
            <a:r>
              <a:rPr lang="en-US" sz="1100" dirty="0">
                <a:solidFill>
                  <a:srgbClr val="64748B"/>
                </a:solidFill>
                <a:latin typeface="Calibri" pitchFamily="34" charset="0"/>
                <a:ea typeface="Calibri" pitchFamily="34" charset="-122"/>
                <a:cs typeface="Calibri" pitchFamily="34" charset="-120"/>
              </a:rPr>
              <a:t> 39 out of 80 machines produced no alert before breakdown, leaving zero lead time.</a:t>
            </a:r>
            <a:endParaRPr lang="en-US" sz="1100" dirty="0"/>
          </a:p>
          <a:p>
            <a:pPr indent="0" marL="0">
              <a:spcAft>
                <a:spcPts val="1000"/>
              </a:spcAft>
              <a:buNone/>
            </a:pPr>
            <a:r>
              <a:rPr lang="en-US" sz="1100" b="1" dirty="0">
                <a:solidFill>
                  <a:srgbClr val="0F172A"/>
                </a:solidFill>
                <a:latin typeface="Calibri" pitchFamily="34" charset="0"/>
                <a:ea typeface="Calibri" pitchFamily="34" charset="-122"/>
                <a:cs typeface="Calibri" pitchFamily="34" charset="-120"/>
              </a:rPr>
              <a:t>Dangerous Complacency:</a:t>
            </a:r>
            <a:pPr indent="0" marL="0">
              <a:spcAft>
                <a:spcPts val="1000"/>
              </a:spcAft>
              <a:buNone/>
            </a:pPr>
            <a:r>
              <a:rPr lang="en-US" sz="1100" dirty="0">
                <a:solidFill>
                  <a:srgbClr val="64748B"/>
                </a:solidFill>
                <a:latin typeface="Calibri" pitchFamily="34" charset="0"/>
                <a:ea typeface="Calibri" pitchFamily="34" charset="-122"/>
                <a:cs typeface="Calibri" pitchFamily="34" charset="-120"/>
              </a:rPr>
              <a:t> Operators trust high lab scores, unaware that one degraded channel can disable alarms.</a:t>
            </a:r>
            <a:endParaRPr lang="en-US" sz="1100" dirty="0"/>
          </a:p>
          <a:p>
            <a:pPr indent="0" marL="0">
              <a:spcAft>
                <a:spcPts val="1000"/>
              </a:spcAft>
              <a:buNone/>
            </a:pPr>
            <a:r>
              <a:rPr lang="en-US" sz="1100" b="1" dirty="0">
                <a:solidFill>
                  <a:srgbClr val="0F172A"/>
                </a:solidFill>
                <a:latin typeface="Calibri" pitchFamily="34" charset="0"/>
                <a:ea typeface="Calibri" pitchFamily="34" charset="-122"/>
                <a:cs typeface="Calibri" pitchFamily="34" charset="-120"/>
              </a:rPr>
              <a:t>Worse Than Calendar Replacements:</a:t>
            </a:r>
            <a:pPr indent="0" marL="0">
              <a:spcAft>
                <a:spcPts val="1000"/>
              </a:spcAft>
              <a:buNone/>
            </a:pPr>
            <a:r>
              <a:rPr lang="en-US" sz="1100" dirty="0">
                <a:solidFill>
                  <a:srgbClr val="64748B"/>
                </a:solidFill>
                <a:latin typeface="Calibri" pitchFamily="34" charset="0"/>
                <a:ea typeface="Calibri" pitchFamily="34" charset="-122"/>
                <a:cs typeface="Calibri" pitchFamily="34" charset="-120"/>
              </a:rPr>
              <a:t> At 51.2%, an advanced ML model performs significantly worse than simple 70% age rules.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THE SOLUTION
</a:t>
            </a:r>
            <a:pPr indent="0" marL="0">
              <a:buNone/>
            </a:pPr>
            <a:r>
              <a:rPr lang="en-US" sz="2200" b="1" dirty="0">
                <a:solidFill>
                  <a:srgbClr val="0F172A"/>
                </a:solidFill>
                <a:latin typeface="Arial" pitchFamily="34" charset="0"/>
                <a:ea typeface="Arial" pitchFamily="34" charset="-122"/>
                <a:cs typeface="Arial" pitchFamily="34" charset="-120"/>
              </a:rPr>
              <a:t>Sidekick: The Fault-Tolerant AI Qualification Engine</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 systematic platform that stress-tests, hardens, and qualifies predictive models before plant deployment.</a:t>
            </a:r>
            <a:endParaRPr lang="en-US" sz="1200" dirty="0"/>
          </a:p>
        </p:txBody>
      </p:sp>
      <p:sp>
        <p:nvSpPr>
          <p:cNvPr id="4" name="Shape 2"/>
          <p:cNvSpPr/>
          <p:nvPr/>
        </p:nvSpPr>
        <p:spPr>
          <a:xfrm>
            <a:off x="731520" y="1600200"/>
            <a:ext cx="2423160" cy="3017520"/>
          </a:xfrm>
          <a:prstGeom prst="roundRect">
            <a:avLst>
              <a:gd name="adj" fmla="val 3019"/>
            </a:avLst>
          </a:prstGeom>
          <a:solidFill>
            <a:srgbClr val="FFFFFF"/>
          </a:solidFill>
          <a:ln w="12700">
            <a:solidFill>
              <a:srgbClr val="E2E8F0"/>
            </a:solidFill>
            <a:prstDash val="solid"/>
          </a:ln>
        </p:spPr>
      </p:sp>
      <p:sp>
        <p:nvSpPr>
          <p:cNvPr id="5" name="Text 3"/>
          <p:cNvSpPr/>
          <p:nvPr/>
        </p:nvSpPr>
        <p:spPr>
          <a:xfrm>
            <a:off x="960120" y="1828800"/>
            <a:ext cx="1965960" cy="228600"/>
          </a:xfrm>
          <a:prstGeom prst="rect">
            <a:avLst/>
          </a:prstGeom>
          <a:noFill/>
          <a:ln/>
        </p:spPr>
        <p:txBody>
          <a:bodyPr wrap="square" lIns="0" tIns="0" rIns="0" bIns="0" rtlCol="0" anchor="ctr"/>
          <a:lstStyle/>
          <a:p>
            <a:pPr indent="0" marL="0">
              <a:buNone/>
            </a:pPr>
            <a:r>
              <a:rPr lang="en-US" sz="1000" b="1" dirty="0">
                <a:solidFill>
                  <a:srgbClr val="1B6AA5"/>
                </a:solidFill>
              </a:rPr>
              <a:t>1. STRESS-TEST</a:t>
            </a:r>
            <a:endParaRPr lang="en-US" sz="1000" dirty="0"/>
          </a:p>
        </p:txBody>
      </p:sp>
      <p:sp>
        <p:nvSpPr>
          <p:cNvPr id="6" name="Text 4"/>
          <p:cNvSpPr/>
          <p:nvPr/>
        </p:nvSpPr>
        <p:spPr>
          <a:xfrm>
            <a:off x="960120"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Fault Matrix Injection</a:t>
            </a:r>
            <a:endParaRPr lang="en-US" sz="1500" dirty="0"/>
          </a:p>
        </p:txBody>
      </p:sp>
      <p:sp>
        <p:nvSpPr>
          <p:cNvPr id="7" name="Text 5"/>
          <p:cNvSpPr/>
          <p:nvPr/>
        </p:nvSpPr>
        <p:spPr>
          <a:xfrm>
            <a:off x="960120"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Simulates 2,470+ permutations of sensor drift, frozen signals, and packet dropouts.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Tests multi-machine fleet histories across full operational lifecycles.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Holdout engines remain strictly isolated to prevent validation data contamination.</a:t>
            </a:r>
            <a:endParaRPr lang="en-US" sz="1150" dirty="0"/>
          </a:p>
        </p:txBody>
      </p:sp>
      <p:sp>
        <p:nvSpPr>
          <p:cNvPr id="8" name="Shape 6"/>
          <p:cNvSpPr/>
          <p:nvPr/>
        </p:nvSpPr>
        <p:spPr>
          <a:xfrm>
            <a:off x="3355848" y="1600200"/>
            <a:ext cx="2423160" cy="3017520"/>
          </a:xfrm>
          <a:prstGeom prst="roundRect">
            <a:avLst>
              <a:gd name="adj" fmla="val 3019"/>
            </a:avLst>
          </a:prstGeom>
          <a:solidFill>
            <a:srgbClr val="FFFFFF"/>
          </a:solidFill>
          <a:ln w="12700">
            <a:solidFill>
              <a:srgbClr val="E2E8F0"/>
            </a:solidFill>
            <a:prstDash val="solid"/>
          </a:ln>
        </p:spPr>
      </p:sp>
      <p:sp>
        <p:nvSpPr>
          <p:cNvPr id="9" name="Text 7"/>
          <p:cNvSpPr/>
          <p:nvPr/>
        </p:nvSpPr>
        <p:spPr>
          <a:xfrm>
            <a:off x="3584448" y="1828800"/>
            <a:ext cx="1965960" cy="228600"/>
          </a:xfrm>
          <a:prstGeom prst="rect">
            <a:avLst/>
          </a:prstGeom>
          <a:noFill/>
          <a:ln/>
        </p:spPr>
        <p:txBody>
          <a:bodyPr wrap="square" lIns="0" tIns="0" rIns="0" bIns="0" rtlCol="0" anchor="ctr"/>
          <a:lstStyle/>
          <a:p>
            <a:pPr indent="0" marL="0">
              <a:buNone/>
            </a:pPr>
            <a:r>
              <a:rPr lang="en-US" sz="1000" b="1" dirty="0">
                <a:solidFill>
                  <a:srgbClr val="10B981"/>
                </a:solidFill>
              </a:rPr>
              <a:t>2. HARDEN</a:t>
            </a:r>
            <a:endParaRPr lang="en-US" sz="1000" dirty="0"/>
          </a:p>
        </p:txBody>
      </p:sp>
      <p:sp>
        <p:nvSpPr>
          <p:cNvPr id="10" name="Text 8"/>
          <p:cNvSpPr/>
          <p:nvPr/>
        </p:nvSpPr>
        <p:spPr>
          <a:xfrm>
            <a:off x="3584448"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Fault-Augmented ML</a:t>
            </a:r>
            <a:endParaRPr lang="en-US" sz="1500" dirty="0"/>
          </a:p>
        </p:txBody>
      </p:sp>
      <p:sp>
        <p:nvSpPr>
          <p:cNvPr id="11" name="Text 9"/>
          <p:cNvSpPr/>
          <p:nvPr/>
        </p:nvSpPr>
        <p:spPr>
          <a:xfrm>
            <a:off x="3584448"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Injects synthetic sensor faults during cross-validated training routines.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Forces gradient-boosted trees to uncover redundant multi-channel failure signatures.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Eliminates fatal dependencies on any single physical sensor channel.</a:t>
            </a:r>
            <a:endParaRPr lang="en-US" sz="1150" dirty="0"/>
          </a:p>
        </p:txBody>
      </p:sp>
      <p:sp>
        <p:nvSpPr>
          <p:cNvPr id="12" name="Shape 10"/>
          <p:cNvSpPr/>
          <p:nvPr/>
        </p:nvSpPr>
        <p:spPr>
          <a:xfrm>
            <a:off x="5980176" y="1600200"/>
            <a:ext cx="2423160" cy="3017520"/>
          </a:xfrm>
          <a:prstGeom prst="roundRect">
            <a:avLst>
              <a:gd name="adj" fmla="val 3019"/>
            </a:avLst>
          </a:prstGeom>
          <a:solidFill>
            <a:srgbClr val="FFFFFF"/>
          </a:solidFill>
          <a:ln w="12700">
            <a:solidFill>
              <a:srgbClr val="E2E8F0"/>
            </a:solidFill>
            <a:prstDash val="solid"/>
          </a:ln>
        </p:spPr>
      </p:sp>
      <p:sp>
        <p:nvSpPr>
          <p:cNvPr id="13" name="Text 11"/>
          <p:cNvSpPr/>
          <p:nvPr/>
        </p:nvSpPr>
        <p:spPr>
          <a:xfrm>
            <a:off x="6208776" y="1828800"/>
            <a:ext cx="1965960" cy="228600"/>
          </a:xfrm>
          <a:prstGeom prst="rect">
            <a:avLst/>
          </a:prstGeom>
          <a:noFill/>
          <a:ln/>
        </p:spPr>
        <p:txBody>
          <a:bodyPr wrap="square" lIns="0" tIns="0" rIns="0" bIns="0" rtlCol="0" anchor="ctr"/>
          <a:lstStyle/>
          <a:p>
            <a:pPr indent="0" marL="0">
              <a:buNone/>
            </a:pPr>
            <a:r>
              <a:rPr lang="en-US" sz="1000" b="1" dirty="0">
                <a:solidFill>
                  <a:srgbClr val="6366F1"/>
                </a:solidFill>
              </a:rPr>
              <a:t>3. QUALIFY</a:t>
            </a:r>
            <a:endParaRPr lang="en-US" sz="1000" dirty="0"/>
          </a:p>
        </p:txBody>
      </p:sp>
      <p:sp>
        <p:nvSpPr>
          <p:cNvPr id="14" name="Text 12"/>
          <p:cNvSpPr/>
          <p:nvPr/>
        </p:nvSpPr>
        <p:spPr>
          <a:xfrm>
            <a:off x="6208776"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Acceptance Gates</a:t>
            </a:r>
            <a:endParaRPr lang="en-US" sz="1500" dirty="0"/>
          </a:p>
        </p:txBody>
      </p:sp>
      <p:sp>
        <p:nvSpPr>
          <p:cNvPr id="15" name="Text 13"/>
          <p:cNvSpPr/>
          <p:nvPr/>
        </p:nvSpPr>
        <p:spPr>
          <a:xfrm>
            <a:off x="6208776"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Strict dual limits: minimum 70% detection AND maximum 10% early-alarm burden.</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Useful lead window guarantees 10 to 30 operating cycles of advance warning.</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Generates immutable JSON Evidence Bundles and compliance HTML audit reports.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EMPIRICAL EVIDENCE
</a:t>
            </a:r>
            <a:pPr indent="0" marL="0">
              <a:buNone/>
            </a:pPr>
            <a:r>
              <a:rPr lang="en-US" sz="2200" b="1" dirty="0">
                <a:solidFill>
                  <a:srgbClr val="0F172A"/>
                </a:solidFill>
                <a:latin typeface="Arial" pitchFamily="34" charset="0"/>
                <a:ea typeface="Arial" pitchFamily="34" charset="-122"/>
                <a:cs typeface="Arial" pitchFamily="34" charset="-120"/>
              </a:rPr>
              <a:t>Sidekick Holds 98.8% Detection Under Worst-Case Faults</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Evaluating 80 turbofan engine test histories across clean baseline and worst-case sensor faults.</a:t>
            </a:r>
            <a:endParaRPr lang="en-US" sz="1200" dirty="0"/>
          </a:p>
        </p:txBody>
      </p:sp>
      <p:graphicFrame>
        <p:nvGraphicFramePr>
          <p:cNvPr id="4" name="Chart 0" descr=""/>
          <p:cNvGraphicFramePr/>
          <p:nvPr/>
        </p:nvGraphicFramePr>
        <p:xfrm>
          <a:off x="731520" y="146304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52160" y="1463040"/>
            <a:ext cx="2560320" cy="1508760"/>
          </a:xfrm>
          <a:prstGeom prst="roundRect">
            <a:avLst>
              <a:gd name="adj" fmla="val 4848"/>
            </a:avLst>
          </a:prstGeom>
          <a:solidFill>
            <a:srgbClr val="ECFDF5"/>
          </a:solidFill>
          <a:ln w="12700">
            <a:solidFill>
              <a:srgbClr val="A7F3D0"/>
            </a:solidFill>
            <a:prstDash val="solid"/>
          </a:ln>
        </p:spPr>
      </p:sp>
      <p:sp>
        <p:nvSpPr>
          <p:cNvPr id="6" name="Text 3"/>
          <p:cNvSpPr/>
          <p:nvPr/>
        </p:nvSpPr>
        <p:spPr>
          <a:xfrm>
            <a:off x="6035040" y="1645920"/>
            <a:ext cx="2194560" cy="228600"/>
          </a:xfrm>
          <a:prstGeom prst="rect">
            <a:avLst/>
          </a:prstGeom>
          <a:noFill/>
          <a:ln/>
        </p:spPr>
        <p:txBody>
          <a:bodyPr wrap="square" lIns="0" tIns="0" rIns="0" bIns="0" rtlCol="0" anchor="ctr"/>
          <a:lstStyle/>
          <a:p>
            <a:pPr indent="0" marL="0">
              <a:buNone/>
            </a:pPr>
            <a:r>
              <a:rPr lang="en-US" sz="1000" b="1" dirty="0">
                <a:solidFill>
                  <a:srgbClr val="10B981"/>
                </a:solidFill>
              </a:rPr>
              <a:t>SIDEKICK AUGMENTED</a:t>
            </a:r>
            <a:endParaRPr lang="en-US" sz="1000" dirty="0"/>
          </a:p>
        </p:txBody>
      </p:sp>
      <p:sp>
        <p:nvSpPr>
          <p:cNvPr id="7" name="Text 4"/>
          <p:cNvSpPr/>
          <p:nvPr/>
        </p:nvSpPr>
        <p:spPr>
          <a:xfrm>
            <a:off x="6035040" y="1874520"/>
            <a:ext cx="2194560" cy="320040"/>
          </a:xfrm>
          <a:prstGeom prst="rect">
            <a:avLst/>
          </a:prstGeom>
          <a:noFill/>
          <a:ln/>
        </p:spPr>
        <p:txBody>
          <a:bodyPr wrap="square" lIns="0" tIns="0" rIns="0" bIns="0" rtlCol="0" anchor="ctr"/>
          <a:lstStyle/>
          <a:p>
            <a:pPr indent="0" marL="0">
              <a:buNone/>
            </a:pPr>
            <a:r>
              <a:rPr lang="en-US" sz="1600" b="1" dirty="0">
                <a:solidFill>
                  <a:srgbClr val="0F172A"/>
                </a:solidFill>
              </a:rPr>
              <a:t>98.8% Under Fault</a:t>
            </a:r>
            <a:endParaRPr lang="en-US" sz="1600" dirty="0"/>
          </a:p>
        </p:txBody>
      </p:sp>
      <p:sp>
        <p:nvSpPr>
          <p:cNvPr id="8" name="Text 5"/>
          <p:cNvSpPr/>
          <p:nvPr/>
        </p:nvSpPr>
        <p:spPr>
          <a:xfrm>
            <a:off x="6035040" y="2240280"/>
            <a:ext cx="2194560" cy="640080"/>
          </a:xfrm>
          <a:prstGeom prst="rect">
            <a:avLst/>
          </a:prstGeom>
          <a:noFill/>
          <a:ln/>
        </p:spPr>
        <p:txBody>
          <a:bodyPr wrap="square" lIns="0" tIns="0" rIns="0" bIns="0" rtlCol="0" anchor="ctr"/>
          <a:lstStyle/>
          <a:p>
            <a:pPr indent="0" marL="0">
              <a:buNone/>
            </a:pPr>
            <a:r>
              <a:rPr lang="en-US" sz="1100" dirty="0">
                <a:solidFill>
                  <a:srgbClr val="64748B"/>
                </a:solidFill>
              </a:rPr>
              <a:t>Only a -1.2% drop from baseline despite severe sensor degradation. Certified for deployment.</a:t>
            </a:r>
            <a:endParaRPr lang="en-US" sz="1100" dirty="0"/>
          </a:p>
        </p:txBody>
      </p:sp>
      <p:sp>
        <p:nvSpPr>
          <p:cNvPr id="9" name="Shape 6"/>
          <p:cNvSpPr/>
          <p:nvPr/>
        </p:nvSpPr>
        <p:spPr>
          <a:xfrm>
            <a:off x="5852160" y="3154680"/>
            <a:ext cx="2560320" cy="1508760"/>
          </a:xfrm>
          <a:prstGeom prst="roundRect">
            <a:avLst>
              <a:gd name="adj" fmla="val 4848"/>
            </a:avLst>
          </a:prstGeom>
          <a:solidFill>
            <a:srgbClr val="FFFFFF"/>
          </a:solidFill>
          <a:ln w="12700">
            <a:solidFill>
              <a:srgbClr val="E2E8F0"/>
            </a:solidFill>
            <a:prstDash val="solid"/>
          </a:ln>
        </p:spPr>
      </p:sp>
      <p:sp>
        <p:nvSpPr>
          <p:cNvPr id="10" name="Text 7"/>
          <p:cNvSpPr/>
          <p:nvPr/>
        </p:nvSpPr>
        <p:spPr>
          <a:xfrm>
            <a:off x="6035040" y="3337560"/>
            <a:ext cx="2194560" cy="228600"/>
          </a:xfrm>
          <a:prstGeom prst="rect">
            <a:avLst/>
          </a:prstGeom>
          <a:noFill/>
          <a:ln/>
        </p:spPr>
        <p:txBody>
          <a:bodyPr wrap="square" lIns="0" tIns="0" rIns="0" bIns="0" rtlCol="0" anchor="ctr"/>
          <a:lstStyle/>
          <a:p>
            <a:pPr indent="0" marL="0">
              <a:buNone/>
            </a:pPr>
            <a:r>
              <a:rPr lang="en-US" sz="1000" b="1" dirty="0">
                <a:solidFill>
                  <a:srgbClr val="1B6AA5"/>
                </a:solidFill>
              </a:rPr>
              <a:t>KEY TAKEAWAY</a:t>
            </a:r>
            <a:endParaRPr lang="en-US" sz="1000" dirty="0"/>
          </a:p>
        </p:txBody>
      </p:sp>
      <p:sp>
        <p:nvSpPr>
          <p:cNvPr id="11" name="Text 8"/>
          <p:cNvSpPr/>
          <p:nvPr/>
        </p:nvSpPr>
        <p:spPr>
          <a:xfrm>
            <a:off x="6035040" y="3566160"/>
            <a:ext cx="2194560" cy="320040"/>
          </a:xfrm>
          <a:prstGeom prst="rect">
            <a:avLst/>
          </a:prstGeom>
          <a:noFill/>
          <a:ln/>
        </p:spPr>
        <p:txBody>
          <a:bodyPr wrap="square" lIns="0" tIns="0" rIns="0" bIns="0" rtlCol="0" anchor="ctr"/>
          <a:lstStyle/>
          <a:p>
            <a:pPr indent="0" marL="0">
              <a:buNone/>
            </a:pPr>
            <a:r>
              <a:rPr lang="en-US" sz="1400" b="1" dirty="0">
                <a:solidFill>
                  <a:srgbClr val="0F172A"/>
                </a:solidFill>
              </a:rPr>
              <a:t>Zero Sensor Blind Spots</a:t>
            </a:r>
            <a:endParaRPr lang="en-US" sz="1400" dirty="0"/>
          </a:p>
        </p:txBody>
      </p:sp>
      <p:sp>
        <p:nvSpPr>
          <p:cNvPr id="12" name="Text 9"/>
          <p:cNvSpPr/>
          <p:nvPr/>
        </p:nvSpPr>
        <p:spPr>
          <a:xfrm>
            <a:off x="6035040" y="3886200"/>
            <a:ext cx="2194560" cy="685800"/>
          </a:xfrm>
          <a:prstGeom prst="rect">
            <a:avLst/>
          </a:prstGeom>
          <a:noFill/>
          <a:ln/>
        </p:spPr>
        <p:txBody>
          <a:bodyPr wrap="square" lIns="0" tIns="0" rIns="0" bIns="0" rtlCol="0" anchor="ctr"/>
          <a:lstStyle/>
          <a:p>
            <a:pPr indent="0" marL="0">
              <a:buNone/>
            </a:pPr>
            <a:r>
              <a:rPr lang="en-US" sz="1100" dirty="0">
                <a:solidFill>
                  <a:srgbClr val="64748B"/>
                </a:solidFill>
              </a:rPr>
              <a:t>Sidekick guarantees that equipment failures are caught even when critical sensor channels fail completely.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OPERATIONAL VALIDATION
</a:t>
            </a:r>
            <a:pPr indent="0" marL="0">
              <a:buNone/>
            </a:pPr>
            <a:r>
              <a:rPr lang="en-US" sz="2200" b="1" dirty="0">
                <a:solidFill>
                  <a:srgbClr val="0F172A"/>
                </a:solidFill>
                <a:latin typeface="Arial" pitchFamily="34" charset="0"/>
                <a:ea typeface="Arial" pitchFamily="34" charset="-122"/>
                <a:cs typeface="Arial" pitchFamily="34" charset="-120"/>
              </a:rPr>
              <a:t>Case Study: Replaying Turbofan Engine #012</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Observing how Sidekick rescues warnings during active sensor drift on a single engine history.</a:t>
            </a:r>
            <a:endParaRPr lang="en-US" sz="1200" dirty="0"/>
          </a:p>
        </p:txBody>
      </p:sp>
      <p:sp>
        <p:nvSpPr>
          <p:cNvPr id="4" name="Shape 2"/>
          <p:cNvSpPr/>
          <p:nvPr/>
        </p:nvSpPr>
        <p:spPr>
          <a:xfrm>
            <a:off x="731520" y="1600200"/>
            <a:ext cx="2423160" cy="3017520"/>
          </a:xfrm>
          <a:prstGeom prst="roundRect">
            <a:avLst>
              <a:gd name="adj" fmla="val 3019"/>
            </a:avLst>
          </a:prstGeom>
          <a:solidFill>
            <a:srgbClr val="FFFFFF"/>
          </a:solidFill>
          <a:ln w="12700">
            <a:solidFill>
              <a:srgbClr val="E2E8F0"/>
            </a:solidFill>
            <a:prstDash val="solid"/>
          </a:ln>
        </p:spPr>
      </p:sp>
      <p:sp>
        <p:nvSpPr>
          <p:cNvPr id="5" name="Text 3"/>
          <p:cNvSpPr/>
          <p:nvPr/>
        </p:nvSpPr>
        <p:spPr>
          <a:xfrm>
            <a:off x="960120" y="1828800"/>
            <a:ext cx="1965960" cy="228600"/>
          </a:xfrm>
          <a:prstGeom prst="rect">
            <a:avLst/>
          </a:prstGeom>
          <a:noFill/>
          <a:ln/>
        </p:spPr>
        <p:txBody>
          <a:bodyPr wrap="square" lIns="0" tIns="0" rIns="0" bIns="0" rtlCol="0" anchor="ctr"/>
          <a:lstStyle/>
          <a:p>
            <a:pPr indent="0" marL="0">
              <a:buNone/>
            </a:pPr>
            <a:r>
              <a:rPr lang="en-US" sz="1000" b="1" dirty="0">
                <a:solidFill>
                  <a:srgbClr val="1B6AA5"/>
                </a:solidFill>
              </a:rPr>
              <a:t>CYCLES 0 – 129</a:t>
            </a:r>
            <a:endParaRPr lang="en-US" sz="1000" dirty="0"/>
          </a:p>
        </p:txBody>
      </p:sp>
      <p:sp>
        <p:nvSpPr>
          <p:cNvPr id="6" name="Text 4"/>
          <p:cNvSpPr/>
          <p:nvPr/>
        </p:nvSpPr>
        <p:spPr>
          <a:xfrm>
            <a:off x="960120"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Normal Telemetry</a:t>
            </a:r>
            <a:endParaRPr lang="en-US" sz="1500" dirty="0"/>
          </a:p>
        </p:txBody>
      </p:sp>
      <p:sp>
        <p:nvSpPr>
          <p:cNvPr id="7" name="Text 5"/>
          <p:cNvSpPr/>
          <p:nvPr/>
        </p:nvSpPr>
        <p:spPr>
          <a:xfrm>
            <a:off x="960120"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Engine operates across 21 sensor channels including core speed and pressure.</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Early-Alarm Burden = 0.0%: No false nuisance alerts generated during healthy cycles.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Equipment telemetry follows standard aging trajectory.</a:t>
            </a:r>
            <a:endParaRPr lang="en-US" sz="1150" dirty="0"/>
          </a:p>
        </p:txBody>
      </p:sp>
      <p:sp>
        <p:nvSpPr>
          <p:cNvPr id="8" name="Shape 6"/>
          <p:cNvSpPr/>
          <p:nvPr/>
        </p:nvSpPr>
        <p:spPr>
          <a:xfrm>
            <a:off x="3355848" y="1600200"/>
            <a:ext cx="2423160" cy="3017520"/>
          </a:xfrm>
          <a:prstGeom prst="roundRect">
            <a:avLst>
              <a:gd name="adj" fmla="val 3019"/>
            </a:avLst>
          </a:prstGeom>
          <a:solidFill>
            <a:srgbClr val="FEF2F2"/>
          </a:solidFill>
          <a:ln w="12700">
            <a:solidFill>
              <a:srgbClr val="FECACA"/>
            </a:solidFill>
            <a:prstDash val="solid"/>
          </a:ln>
        </p:spPr>
      </p:sp>
      <p:sp>
        <p:nvSpPr>
          <p:cNvPr id="9" name="Text 7"/>
          <p:cNvSpPr/>
          <p:nvPr/>
        </p:nvSpPr>
        <p:spPr>
          <a:xfrm>
            <a:off x="3584448" y="1828800"/>
            <a:ext cx="1965960" cy="228600"/>
          </a:xfrm>
          <a:prstGeom prst="rect">
            <a:avLst/>
          </a:prstGeom>
          <a:noFill/>
          <a:ln/>
        </p:spPr>
        <p:txBody>
          <a:bodyPr wrap="square" lIns="0" tIns="0" rIns="0" bIns="0" rtlCol="0" anchor="ctr"/>
          <a:lstStyle/>
          <a:p>
            <a:pPr indent="0" marL="0">
              <a:buNone/>
            </a:pPr>
            <a:r>
              <a:rPr lang="en-US" sz="1000" b="1" dirty="0">
                <a:solidFill>
                  <a:srgbClr val="D81E2E"/>
                </a:solidFill>
              </a:rPr>
              <a:t>CYCLE 130</a:t>
            </a:r>
            <a:endParaRPr lang="en-US" sz="1000" dirty="0"/>
          </a:p>
        </p:txBody>
      </p:sp>
      <p:sp>
        <p:nvSpPr>
          <p:cNvPr id="10" name="Text 8"/>
          <p:cNvSpPr/>
          <p:nvPr/>
        </p:nvSpPr>
        <p:spPr>
          <a:xfrm>
            <a:off x="3584448" y="2103120"/>
            <a:ext cx="1965960" cy="320040"/>
          </a:xfrm>
          <a:prstGeom prst="rect">
            <a:avLst/>
          </a:prstGeom>
          <a:noFill/>
          <a:ln/>
        </p:spPr>
        <p:txBody>
          <a:bodyPr wrap="square" lIns="0" tIns="0" rIns="0" bIns="0" rtlCol="0" anchor="ctr"/>
          <a:lstStyle/>
          <a:p>
            <a:pPr indent="0" marL="0">
              <a:buNone/>
            </a:pPr>
            <a:r>
              <a:rPr lang="en-US" sz="1500" b="1" dirty="0">
                <a:solidFill>
                  <a:srgbClr val="D81E2E"/>
                </a:solidFill>
              </a:rPr>
              <a:t>Sensor Drift Onset</a:t>
            </a:r>
            <a:endParaRPr lang="en-US" sz="1500" dirty="0"/>
          </a:p>
        </p:txBody>
      </p:sp>
      <p:sp>
        <p:nvSpPr>
          <p:cNvPr id="11" name="Text 9"/>
          <p:cNvSpPr/>
          <p:nvPr/>
        </p:nvSpPr>
        <p:spPr>
          <a:xfrm>
            <a:off x="3584448"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Exhaust temperature &amp; core speed sensors severely drift away from physical reality.</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Physical failure trajectory will terminate in breakdown at Cycle 166.</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Standard models are completely blinded and fail to trigger any warning.</a:t>
            </a:r>
            <a:endParaRPr lang="en-US" sz="1150" dirty="0"/>
          </a:p>
        </p:txBody>
      </p:sp>
      <p:sp>
        <p:nvSpPr>
          <p:cNvPr id="12" name="Shape 10"/>
          <p:cNvSpPr/>
          <p:nvPr/>
        </p:nvSpPr>
        <p:spPr>
          <a:xfrm>
            <a:off x="5980176" y="1600200"/>
            <a:ext cx="2423160" cy="3017520"/>
          </a:xfrm>
          <a:prstGeom prst="roundRect">
            <a:avLst>
              <a:gd name="adj" fmla="val 3019"/>
            </a:avLst>
          </a:prstGeom>
          <a:solidFill>
            <a:srgbClr val="ECFDF5"/>
          </a:solidFill>
          <a:ln w="12700">
            <a:solidFill>
              <a:srgbClr val="A7F3D0"/>
            </a:solidFill>
            <a:prstDash val="solid"/>
          </a:ln>
        </p:spPr>
      </p:sp>
      <p:sp>
        <p:nvSpPr>
          <p:cNvPr id="13" name="Text 11"/>
          <p:cNvSpPr/>
          <p:nvPr/>
        </p:nvSpPr>
        <p:spPr>
          <a:xfrm>
            <a:off x="6208776" y="1828800"/>
            <a:ext cx="1965960" cy="228600"/>
          </a:xfrm>
          <a:prstGeom prst="rect">
            <a:avLst/>
          </a:prstGeom>
          <a:noFill/>
          <a:ln/>
        </p:spPr>
        <p:txBody>
          <a:bodyPr wrap="square" lIns="0" tIns="0" rIns="0" bIns="0" rtlCol="0" anchor="ctr"/>
          <a:lstStyle/>
          <a:p>
            <a:pPr indent="0" marL="0">
              <a:buNone/>
            </a:pPr>
            <a:r>
              <a:rPr lang="en-US" sz="1000" b="1" dirty="0">
                <a:solidFill>
                  <a:srgbClr val="10B981"/>
                </a:solidFill>
              </a:rPr>
              <a:t>CYCLE 148</a:t>
            </a:r>
            <a:endParaRPr lang="en-US" sz="1000" dirty="0"/>
          </a:p>
        </p:txBody>
      </p:sp>
      <p:sp>
        <p:nvSpPr>
          <p:cNvPr id="14" name="Text 12"/>
          <p:cNvSpPr/>
          <p:nvPr/>
        </p:nvSpPr>
        <p:spPr>
          <a:xfrm>
            <a:off x="6208776"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Warning Dispatched</a:t>
            </a:r>
            <a:endParaRPr lang="en-US" sz="1500" dirty="0"/>
          </a:p>
        </p:txBody>
      </p:sp>
      <p:sp>
        <p:nvSpPr>
          <p:cNvPr id="15" name="Text 13"/>
          <p:cNvSpPr/>
          <p:nvPr/>
        </p:nvSpPr>
        <p:spPr>
          <a:xfrm>
            <a:off x="6208776"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Sidekick pierces the corrupted telemetry and sounds the alarm at Cycle 148.</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18 Cycles Useful Lead Time: Ample advance window for scheduled maintenance.</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Zero false alarms across the entire operating timeline.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ENTERPRISE ARCHITECTURE
</a:t>
            </a:r>
            <a:pPr indent="0" marL="0">
              <a:buNone/>
            </a:pPr>
            <a:r>
              <a:rPr lang="en-US" sz="2200" b="1" dirty="0">
                <a:solidFill>
                  <a:srgbClr val="0F172A"/>
                </a:solidFill>
                <a:latin typeface="Arial" pitchFamily="34" charset="0"/>
                <a:ea typeface="Arial" pitchFamily="34" charset="-122"/>
                <a:cs typeface="Arial" pitchFamily="34" charset="-120"/>
              </a:rPr>
              <a:t>Engineered for Plant Security and Air-Gapped Deployment</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Two dedicated operational modes designed to satisfy industrial plant IT/OT constraints.</a:t>
            </a:r>
            <a:endParaRPr lang="en-US" sz="1200" dirty="0"/>
          </a:p>
        </p:txBody>
      </p:sp>
      <p:sp>
        <p:nvSpPr>
          <p:cNvPr id="4" name="Shape 2"/>
          <p:cNvSpPr/>
          <p:nvPr/>
        </p:nvSpPr>
        <p:spPr>
          <a:xfrm>
            <a:off x="731520" y="1600200"/>
            <a:ext cx="3749040" cy="3017520"/>
          </a:xfrm>
          <a:prstGeom prst="roundRect">
            <a:avLst>
              <a:gd name="adj" fmla="val 2424"/>
            </a:avLst>
          </a:prstGeom>
          <a:solidFill>
            <a:srgbClr val="FFFFFF"/>
          </a:solidFill>
          <a:ln w="12700">
            <a:solidFill>
              <a:srgbClr val="E2E8F0"/>
            </a:solidFill>
            <a:prstDash val="solid"/>
          </a:ln>
        </p:spPr>
      </p:sp>
      <p:sp>
        <p:nvSpPr>
          <p:cNvPr id="5" name="Text 3"/>
          <p:cNvSpPr/>
          <p:nvPr/>
        </p:nvSpPr>
        <p:spPr>
          <a:xfrm>
            <a:off x="960120" y="1828800"/>
            <a:ext cx="3291840" cy="228600"/>
          </a:xfrm>
          <a:prstGeom prst="rect">
            <a:avLst/>
          </a:prstGeom>
          <a:noFill/>
          <a:ln/>
        </p:spPr>
        <p:txBody>
          <a:bodyPr wrap="square" lIns="0" tIns="0" rIns="0" bIns="0" rtlCol="0" anchor="ctr"/>
          <a:lstStyle/>
          <a:p>
            <a:pPr indent="0" marL="0">
              <a:buNone/>
            </a:pPr>
            <a:r>
              <a:rPr lang="en-US" sz="1000" b="1" dirty="0">
                <a:solidFill>
                  <a:srgbClr val="1B6AA5"/>
                </a:solidFill>
              </a:rPr>
              <a:t>MODE 1: EXPERIMENTATION ENGINE</a:t>
            </a:r>
            <a:endParaRPr lang="en-US" sz="1000" dirty="0"/>
          </a:p>
        </p:txBody>
      </p:sp>
      <p:sp>
        <p:nvSpPr>
          <p:cNvPr id="6" name="Text 4"/>
          <p:cNvSpPr/>
          <p:nvPr/>
        </p:nvSpPr>
        <p:spPr>
          <a:xfrm>
            <a:off x="960120" y="2103120"/>
            <a:ext cx="3291840" cy="320040"/>
          </a:xfrm>
          <a:prstGeom prst="rect">
            <a:avLst/>
          </a:prstGeom>
          <a:noFill/>
          <a:ln/>
        </p:spPr>
        <p:txBody>
          <a:bodyPr wrap="square" lIns="0" tIns="0" rIns="0" bIns="0" rtlCol="0" anchor="ctr"/>
          <a:lstStyle/>
          <a:p>
            <a:pPr indent="0" marL="0">
              <a:buNone/>
            </a:pPr>
            <a:r>
              <a:rPr lang="en-US" sz="1500" b="1" dirty="0">
                <a:solidFill>
                  <a:srgbClr val="0F172A"/>
                </a:solidFill>
              </a:rPr>
              <a:t>Full Training &amp; Simulation</a:t>
            </a:r>
            <a:endParaRPr lang="en-US" sz="1500" dirty="0"/>
          </a:p>
        </p:txBody>
      </p:sp>
      <p:sp>
        <p:nvSpPr>
          <p:cNvPr id="7" name="Text 5"/>
          <p:cNvSpPr/>
          <p:nvPr/>
        </p:nvSpPr>
        <p:spPr>
          <a:xfrm>
            <a:off x="960120" y="2514600"/>
            <a:ext cx="3291840" cy="1920240"/>
          </a:xfrm>
          <a:prstGeom prst="rect">
            <a:avLst/>
          </a:prstGeom>
          <a:noFill/>
          <a:ln/>
        </p:spPr>
        <p:txBody>
          <a:bodyPr wrap="square" rtlCol="0" anchor="ctr"/>
          <a:lstStyle/>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CSV Ingestion Engine: Supports up to 10MB sensor streams with automatic column role mapping.</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Parallelized Fault Matrix: Fast simulation executing 2,470+ permutations in under 15 minutes.</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Strict Data Isolation: Dedicated workspace folders prevent customer data leakage or holdout corruption.</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Audience: Data science, reliability engineering, and plant optimization centers.</a:t>
            </a:r>
            <a:endParaRPr lang="en-US" sz="1100" dirty="0"/>
          </a:p>
        </p:txBody>
      </p:sp>
      <p:sp>
        <p:nvSpPr>
          <p:cNvPr id="8" name="Shape 6"/>
          <p:cNvSpPr/>
          <p:nvPr/>
        </p:nvSpPr>
        <p:spPr>
          <a:xfrm>
            <a:off x="4663440" y="1600200"/>
            <a:ext cx="3749040" cy="3017520"/>
          </a:xfrm>
          <a:prstGeom prst="roundRect">
            <a:avLst>
              <a:gd name="adj" fmla="val 2424"/>
            </a:avLst>
          </a:prstGeom>
          <a:solidFill>
            <a:srgbClr val="FFFFFF"/>
          </a:solidFill>
          <a:ln w="12700">
            <a:solidFill>
              <a:srgbClr val="E2E8F0"/>
            </a:solidFill>
            <a:prstDash val="solid"/>
          </a:ln>
        </p:spPr>
      </p:sp>
      <p:sp>
        <p:nvSpPr>
          <p:cNvPr id="9" name="Text 7"/>
          <p:cNvSpPr/>
          <p:nvPr/>
        </p:nvSpPr>
        <p:spPr>
          <a:xfrm>
            <a:off x="4892040" y="1828800"/>
            <a:ext cx="3291840" cy="228600"/>
          </a:xfrm>
          <a:prstGeom prst="rect">
            <a:avLst/>
          </a:prstGeom>
          <a:noFill/>
          <a:ln/>
        </p:spPr>
        <p:txBody>
          <a:bodyPr wrap="square" lIns="0" tIns="0" rIns="0" bIns="0" rtlCol="0" anchor="ctr"/>
          <a:lstStyle/>
          <a:p>
            <a:pPr indent="0" marL="0">
              <a:buNone/>
            </a:pPr>
            <a:r>
              <a:rPr lang="en-US" sz="1000" b="1" dirty="0">
                <a:solidFill>
                  <a:srgbClr val="10B981"/>
                </a:solidFill>
              </a:rPr>
              <a:t>MODE 2: SECURE PLANT RUNTIME</a:t>
            </a:r>
            <a:endParaRPr lang="en-US" sz="1000" dirty="0"/>
          </a:p>
        </p:txBody>
      </p:sp>
      <p:sp>
        <p:nvSpPr>
          <p:cNvPr id="10" name="Text 8"/>
          <p:cNvSpPr/>
          <p:nvPr/>
        </p:nvSpPr>
        <p:spPr>
          <a:xfrm>
            <a:off x="4892040" y="2103120"/>
            <a:ext cx="3291840" cy="320040"/>
          </a:xfrm>
          <a:prstGeom prst="rect">
            <a:avLst/>
          </a:prstGeom>
          <a:noFill/>
          <a:ln/>
        </p:spPr>
        <p:txBody>
          <a:bodyPr wrap="square" lIns="0" tIns="0" rIns="0" bIns="0" rtlCol="0" anchor="ctr"/>
          <a:lstStyle/>
          <a:p>
            <a:pPr indent="0" marL="0">
              <a:buNone/>
            </a:pPr>
            <a:r>
              <a:rPr lang="en-US" sz="1500" b="1" dirty="0">
                <a:solidFill>
                  <a:srgbClr val="0F172A"/>
                </a:solidFill>
              </a:rPr>
              <a:t>Air-Gapped Replay Container</a:t>
            </a:r>
            <a:endParaRPr lang="en-US" sz="1500" dirty="0"/>
          </a:p>
        </p:txBody>
      </p:sp>
      <p:sp>
        <p:nvSpPr>
          <p:cNvPr id="11" name="Text 9"/>
          <p:cNvSpPr/>
          <p:nvPr/>
        </p:nvSpPr>
        <p:spPr>
          <a:xfrm>
            <a:off x="4892040" y="2514600"/>
            <a:ext cx="3291840" cy="1920240"/>
          </a:xfrm>
          <a:prstGeom prst="rect">
            <a:avLst/>
          </a:prstGeom>
          <a:noFill/>
          <a:ln/>
        </p:spPr>
        <p:txBody>
          <a:bodyPr wrap="square" rtlCol="0" anchor="ctr"/>
          <a:lstStyle/>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Zero External Calls: Runs with training/upload disabled (SIDEKICK_MODE=replay) in a lightweight Docker image.</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Immutable Evidence: Serves pre-computed evaluation manifests directly from signed bundle.json.</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Compliance Export: Instant generation of standalone HTML audit reports, JSON evidence, and CSV metrics.</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Audience: On-premise plant operators, control room technicians, and compliance auditors.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STRATEGIC IMPACT
</a:t>
            </a:r>
            <a:pPr indent="0" marL="0">
              <a:buNone/>
            </a:pPr>
            <a:r>
              <a:rPr lang="en-US" sz="2200" b="1" dirty="0">
                <a:solidFill>
                  <a:srgbClr val="0F172A"/>
                </a:solidFill>
                <a:latin typeface="Arial" pitchFamily="34" charset="0"/>
                <a:ea typeface="Arial" pitchFamily="34" charset="-122"/>
                <a:cs typeface="Arial" pitchFamily="34" charset="-120"/>
              </a:rPr>
              <a:t>Unlocking High-Confidence AI for ABB Ecosystems</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How Sidekick strengthens ABB Ability™ predictive maintenance solutions.</a:t>
            </a:r>
            <a:endParaRPr lang="en-US" sz="1200" dirty="0"/>
          </a:p>
        </p:txBody>
      </p:sp>
      <p:sp>
        <p:nvSpPr>
          <p:cNvPr id="4" name="Shape 2"/>
          <p:cNvSpPr/>
          <p:nvPr/>
        </p:nvSpPr>
        <p:spPr>
          <a:xfrm>
            <a:off x="731520" y="1600200"/>
            <a:ext cx="2423160" cy="3017520"/>
          </a:xfrm>
          <a:prstGeom prst="roundRect">
            <a:avLst>
              <a:gd name="adj" fmla="val 3019"/>
            </a:avLst>
          </a:prstGeom>
          <a:solidFill>
            <a:srgbClr val="FFFFFF"/>
          </a:solidFill>
          <a:ln w="12700">
            <a:solidFill>
              <a:srgbClr val="E2E8F0"/>
            </a:solidFill>
            <a:prstDash val="solid"/>
          </a:ln>
        </p:spPr>
      </p:sp>
      <p:sp>
        <p:nvSpPr>
          <p:cNvPr id="5" name="Text 3"/>
          <p:cNvSpPr/>
          <p:nvPr/>
        </p:nvSpPr>
        <p:spPr>
          <a:xfrm>
            <a:off x="960120" y="1828800"/>
            <a:ext cx="1965960" cy="228600"/>
          </a:xfrm>
          <a:prstGeom prst="rect">
            <a:avLst/>
          </a:prstGeom>
          <a:noFill/>
          <a:ln/>
        </p:spPr>
        <p:txBody>
          <a:bodyPr wrap="square" lIns="0" tIns="0" rIns="0" bIns="0" rtlCol="0" anchor="ctr"/>
          <a:lstStyle/>
          <a:p>
            <a:pPr indent="0" marL="0">
              <a:buNone/>
            </a:pPr>
            <a:r>
              <a:rPr lang="en-US" sz="1000" b="1" dirty="0">
                <a:solidFill>
                  <a:srgbClr val="1B6AA5"/>
                </a:solidFill>
              </a:rPr>
              <a:t>RELIABILITY</a:t>
            </a:r>
            <a:endParaRPr lang="en-US" sz="1000" dirty="0"/>
          </a:p>
        </p:txBody>
      </p:sp>
      <p:sp>
        <p:nvSpPr>
          <p:cNvPr id="6" name="Text 4"/>
          <p:cNvSpPr/>
          <p:nvPr/>
        </p:nvSpPr>
        <p:spPr>
          <a:xfrm>
            <a:off x="960120"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Eliminate Blind Spots</a:t>
            </a:r>
            <a:endParaRPr lang="en-US" sz="1500" dirty="0"/>
          </a:p>
        </p:txBody>
      </p:sp>
      <p:sp>
        <p:nvSpPr>
          <p:cNvPr id="7" name="Text 5"/>
          <p:cNvSpPr/>
          <p:nvPr/>
        </p:nvSpPr>
        <p:spPr>
          <a:xfrm>
            <a:off x="960120"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Prevents catastrophic machinery breakdown when sensors degrade before mechanical components.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Provides guaranteed advance warning for critical turbines, compressors, and motor drives.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Directly protects customer uptime SLAs.</a:t>
            </a:r>
            <a:endParaRPr lang="en-US" sz="1150" dirty="0"/>
          </a:p>
        </p:txBody>
      </p:sp>
      <p:sp>
        <p:nvSpPr>
          <p:cNvPr id="8" name="Shape 6"/>
          <p:cNvSpPr/>
          <p:nvPr/>
        </p:nvSpPr>
        <p:spPr>
          <a:xfrm>
            <a:off x="3355848" y="1600200"/>
            <a:ext cx="2423160" cy="3017520"/>
          </a:xfrm>
          <a:prstGeom prst="roundRect">
            <a:avLst>
              <a:gd name="adj" fmla="val 3019"/>
            </a:avLst>
          </a:prstGeom>
          <a:solidFill>
            <a:srgbClr val="FFFFFF"/>
          </a:solidFill>
          <a:ln w="12700">
            <a:solidFill>
              <a:srgbClr val="E2E8F0"/>
            </a:solidFill>
            <a:prstDash val="solid"/>
          </a:ln>
        </p:spPr>
      </p:sp>
      <p:sp>
        <p:nvSpPr>
          <p:cNvPr id="9" name="Text 7"/>
          <p:cNvSpPr/>
          <p:nvPr/>
        </p:nvSpPr>
        <p:spPr>
          <a:xfrm>
            <a:off x="3584448" y="1828800"/>
            <a:ext cx="1965960" cy="228600"/>
          </a:xfrm>
          <a:prstGeom prst="rect">
            <a:avLst/>
          </a:prstGeom>
          <a:noFill/>
          <a:ln/>
        </p:spPr>
        <p:txBody>
          <a:bodyPr wrap="square" lIns="0" tIns="0" rIns="0" bIns="0" rtlCol="0" anchor="ctr"/>
          <a:lstStyle/>
          <a:p>
            <a:pPr indent="0" marL="0">
              <a:buNone/>
            </a:pPr>
            <a:r>
              <a:rPr lang="en-US" sz="1000" b="1" dirty="0">
                <a:solidFill>
                  <a:srgbClr val="10B981"/>
                </a:solidFill>
              </a:rPr>
              <a:t>OPERATOR TRUST</a:t>
            </a:r>
            <a:endParaRPr lang="en-US" sz="1000" dirty="0"/>
          </a:p>
        </p:txBody>
      </p:sp>
      <p:sp>
        <p:nvSpPr>
          <p:cNvPr id="10" name="Text 8"/>
          <p:cNvSpPr/>
          <p:nvPr/>
        </p:nvSpPr>
        <p:spPr>
          <a:xfrm>
            <a:off x="3584448"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End Alarm Fatigue</a:t>
            </a:r>
            <a:endParaRPr lang="en-US" sz="1500" dirty="0"/>
          </a:p>
        </p:txBody>
      </p:sp>
      <p:sp>
        <p:nvSpPr>
          <p:cNvPr id="11" name="Text 9"/>
          <p:cNvSpPr/>
          <p:nvPr/>
        </p:nvSpPr>
        <p:spPr>
          <a:xfrm>
            <a:off x="3584448"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Enforces a strict 10% maximum early-alarm burden during model qualification.</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Control room operators stop silencing nuisance alerts because every alarm carries audit evidence.</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Restores human trust in automated diagnostic systems.</a:t>
            </a:r>
            <a:endParaRPr lang="en-US" sz="1150" dirty="0"/>
          </a:p>
        </p:txBody>
      </p:sp>
      <p:sp>
        <p:nvSpPr>
          <p:cNvPr id="12" name="Shape 10"/>
          <p:cNvSpPr/>
          <p:nvPr/>
        </p:nvSpPr>
        <p:spPr>
          <a:xfrm>
            <a:off x="5980176" y="1600200"/>
            <a:ext cx="2423160" cy="3017520"/>
          </a:xfrm>
          <a:prstGeom prst="roundRect">
            <a:avLst>
              <a:gd name="adj" fmla="val 3019"/>
            </a:avLst>
          </a:prstGeom>
          <a:solidFill>
            <a:srgbClr val="FFFFFF"/>
          </a:solidFill>
          <a:ln w="12700">
            <a:solidFill>
              <a:srgbClr val="E2E8F0"/>
            </a:solidFill>
            <a:prstDash val="solid"/>
          </a:ln>
        </p:spPr>
      </p:sp>
      <p:sp>
        <p:nvSpPr>
          <p:cNvPr id="13" name="Text 11"/>
          <p:cNvSpPr/>
          <p:nvPr/>
        </p:nvSpPr>
        <p:spPr>
          <a:xfrm>
            <a:off x="6208776" y="1828800"/>
            <a:ext cx="1965960" cy="228600"/>
          </a:xfrm>
          <a:prstGeom prst="rect">
            <a:avLst/>
          </a:prstGeom>
          <a:noFill/>
          <a:ln/>
        </p:spPr>
        <p:txBody>
          <a:bodyPr wrap="square" lIns="0" tIns="0" rIns="0" bIns="0" rtlCol="0" anchor="ctr"/>
          <a:lstStyle/>
          <a:p>
            <a:pPr indent="0" marL="0">
              <a:buNone/>
            </a:pPr>
            <a:r>
              <a:rPr lang="en-US" sz="1000" b="1" dirty="0">
                <a:solidFill>
                  <a:srgbClr val="6366F1"/>
                </a:solidFill>
              </a:rPr>
              <a:t>ECOSYSTEM FIT</a:t>
            </a:r>
            <a:endParaRPr lang="en-US" sz="1000" dirty="0"/>
          </a:p>
        </p:txBody>
      </p:sp>
      <p:sp>
        <p:nvSpPr>
          <p:cNvPr id="14" name="Text 12"/>
          <p:cNvSpPr/>
          <p:nvPr/>
        </p:nvSpPr>
        <p:spPr>
          <a:xfrm>
            <a:off x="6208776" y="2103120"/>
            <a:ext cx="1965960" cy="320040"/>
          </a:xfrm>
          <a:prstGeom prst="rect">
            <a:avLst/>
          </a:prstGeom>
          <a:noFill/>
          <a:ln/>
        </p:spPr>
        <p:txBody>
          <a:bodyPr wrap="square" lIns="0" tIns="0" rIns="0" bIns="0" rtlCol="0" anchor="ctr"/>
          <a:lstStyle/>
          <a:p>
            <a:pPr indent="0" marL="0">
              <a:buNone/>
            </a:pPr>
            <a:r>
              <a:rPr lang="en-US" sz="1500" b="1" dirty="0">
                <a:solidFill>
                  <a:srgbClr val="0F172A"/>
                </a:solidFill>
              </a:rPr>
              <a:t>ABB Ability™ Fit</a:t>
            </a:r>
            <a:endParaRPr lang="en-US" sz="1500" dirty="0"/>
          </a:p>
        </p:txBody>
      </p:sp>
      <p:sp>
        <p:nvSpPr>
          <p:cNvPr id="15" name="Text 13"/>
          <p:cNvSpPr/>
          <p:nvPr/>
        </p:nvSpPr>
        <p:spPr>
          <a:xfrm>
            <a:off x="6208776" y="2514600"/>
            <a:ext cx="1965960" cy="1828800"/>
          </a:xfrm>
          <a:prstGeom prst="rect">
            <a:avLst/>
          </a:prstGeom>
          <a:noFill/>
          <a:ln/>
        </p:spPr>
        <p:txBody>
          <a:bodyPr wrap="square" rtlCol="0" anchor="ctr"/>
          <a:lstStyle/>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Ingests fleet telemetry from ABB Symphony® Plus, 800xA, and smart sensor gateways.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Enables ABB to offer a defensible "Sensor-Resilient AI" tier for enterprise service contracts.</a:t>
            </a:r>
            <a:endParaRPr lang="en-US" sz="1150" dirty="0"/>
          </a:p>
          <a:p>
            <a:pPr marL="342900" indent="-342900">
              <a:spcAft>
                <a:spcPts val="800"/>
              </a:spcAft>
              <a:buSzPct val="100000"/>
              <a:buChar char="•"/>
            </a:pPr>
            <a:r>
              <a:rPr lang="en-US" sz="1150" dirty="0">
                <a:solidFill>
                  <a:srgbClr val="64748B"/>
                </a:solidFill>
                <a:latin typeface="Calibri" pitchFamily="34" charset="0"/>
                <a:ea typeface="Calibri" pitchFamily="34" charset="-122"/>
                <a:cs typeface="Calibri" pitchFamily="34" charset="-120"/>
              </a:rPr>
              <a:t>Accelerates commercial AI deployment velocity.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t"/>
          <a:lstStyle/>
          <a:p>
            <a:pPr indent="0" marL="0">
              <a:buNone/>
            </a:pPr>
            <a:r>
              <a:rPr lang="en-US" sz="1000" b="1" spc="150" kern="0" dirty="0">
                <a:solidFill>
                  <a:srgbClr val="1B6AA5"/>
                </a:solidFill>
              </a:rPr>
              <a:t>EXECUTION PLAN
</a:t>
            </a:r>
            <a:pPr indent="0" marL="0">
              <a:buNone/>
            </a:pPr>
            <a:r>
              <a:rPr lang="en-US" sz="2200" b="1" dirty="0">
                <a:solidFill>
                  <a:srgbClr val="0F172A"/>
                </a:solidFill>
                <a:latin typeface="Arial" pitchFamily="34" charset="0"/>
                <a:ea typeface="Arial" pitchFamily="34" charset="-122"/>
                <a:cs typeface="Arial" pitchFamily="34" charset="-120"/>
              </a:rPr>
              <a:t>12-Month Roadmap: From Prototype to Enterprise Fleet</a:t>
            </a:r>
            <a:endParaRPr lang="en-US" sz="1000" dirty="0"/>
          </a:p>
        </p:txBody>
      </p:sp>
      <p:sp>
        <p:nvSpPr>
          <p:cNvPr id="3" name="Text 1"/>
          <p:cNvSpPr/>
          <p:nvPr/>
        </p:nvSpPr>
        <p:spPr>
          <a:xfrm>
            <a:off x="731520" y="1143000"/>
            <a:ext cx="768096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Phased rollout plan aligned with ABB industrial customer pilot opportunities.</a:t>
            </a:r>
            <a:endParaRPr lang="en-US" sz="1200" dirty="0"/>
          </a:p>
        </p:txBody>
      </p:sp>
      <p:sp>
        <p:nvSpPr>
          <p:cNvPr id="4" name="Shape 2"/>
          <p:cNvSpPr/>
          <p:nvPr/>
        </p:nvSpPr>
        <p:spPr>
          <a:xfrm>
            <a:off x="731520" y="1600200"/>
            <a:ext cx="1783080" cy="3017520"/>
          </a:xfrm>
          <a:prstGeom prst="roundRect">
            <a:avLst>
              <a:gd name="adj" fmla="val 4103"/>
            </a:avLst>
          </a:prstGeom>
          <a:solidFill>
            <a:srgbClr val="FFFFFF"/>
          </a:solidFill>
          <a:ln w="12700">
            <a:solidFill>
              <a:srgbClr val="E2E8F0"/>
            </a:solidFill>
            <a:prstDash val="solid"/>
          </a:ln>
        </p:spPr>
      </p:sp>
      <p:sp>
        <p:nvSpPr>
          <p:cNvPr id="5" name="Text 3"/>
          <p:cNvSpPr/>
          <p:nvPr/>
        </p:nvSpPr>
        <p:spPr>
          <a:xfrm>
            <a:off x="868680" y="1828800"/>
            <a:ext cx="1508760" cy="228600"/>
          </a:xfrm>
          <a:prstGeom prst="rect">
            <a:avLst/>
          </a:prstGeom>
          <a:noFill/>
          <a:ln/>
        </p:spPr>
        <p:txBody>
          <a:bodyPr wrap="square" lIns="0" tIns="0" rIns="0" bIns="0" rtlCol="0" anchor="ctr"/>
          <a:lstStyle/>
          <a:p>
            <a:pPr indent="0" marL="0">
              <a:buNone/>
            </a:pPr>
            <a:r>
              <a:rPr lang="en-US" sz="950" b="1" dirty="0">
                <a:solidFill>
                  <a:srgbClr val="10B981"/>
                </a:solidFill>
              </a:rPr>
              <a:t>PHASE 1 • NOW</a:t>
            </a:r>
            <a:endParaRPr lang="en-US" sz="950" dirty="0"/>
          </a:p>
        </p:txBody>
      </p:sp>
      <p:sp>
        <p:nvSpPr>
          <p:cNvPr id="6" name="Text 4"/>
          <p:cNvSpPr/>
          <p:nvPr/>
        </p:nvSpPr>
        <p:spPr>
          <a:xfrm>
            <a:off x="868680" y="2103120"/>
            <a:ext cx="1508760" cy="320040"/>
          </a:xfrm>
          <a:prstGeom prst="rect">
            <a:avLst/>
          </a:prstGeom>
          <a:noFill/>
          <a:ln/>
        </p:spPr>
        <p:txBody>
          <a:bodyPr wrap="square" lIns="0" tIns="0" rIns="0" bIns="0" rtlCol="0" anchor="ctr"/>
          <a:lstStyle/>
          <a:p>
            <a:pPr indent="0" marL="0">
              <a:buNone/>
            </a:pPr>
            <a:r>
              <a:rPr lang="en-US" sz="1300" b="1" dirty="0">
                <a:solidFill>
                  <a:srgbClr val="0F172A"/>
                </a:solidFill>
              </a:rPr>
              <a:t>Prototype Validated</a:t>
            </a:r>
            <a:endParaRPr lang="en-US" sz="1300" dirty="0"/>
          </a:p>
        </p:txBody>
      </p:sp>
      <p:sp>
        <p:nvSpPr>
          <p:cNvPr id="7" name="Text 5"/>
          <p:cNvSpPr/>
          <p:nvPr/>
        </p:nvSpPr>
        <p:spPr>
          <a:xfrm>
            <a:off x="868680" y="2514600"/>
            <a:ext cx="1508760" cy="1920240"/>
          </a:xfrm>
          <a:prstGeom prst="rect">
            <a:avLst/>
          </a:prstGeom>
          <a:noFill/>
          <a:ln/>
        </p:spPr>
        <p:txBody>
          <a:bodyPr wrap="square" rtlCol="0" anchor="ctr"/>
          <a:lstStyle/>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NASA C-MAPSS benchmark validated across 80 engines.</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Synthetic equipment generator &amp; warning replay UI complete.</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Docker replay container tested.</a:t>
            </a:r>
            <a:endParaRPr lang="en-US" sz="1050" dirty="0"/>
          </a:p>
        </p:txBody>
      </p:sp>
      <p:sp>
        <p:nvSpPr>
          <p:cNvPr id="8" name="Shape 6"/>
          <p:cNvSpPr/>
          <p:nvPr/>
        </p:nvSpPr>
        <p:spPr>
          <a:xfrm>
            <a:off x="2697480" y="1600200"/>
            <a:ext cx="1783080" cy="3017520"/>
          </a:xfrm>
          <a:prstGeom prst="roundRect">
            <a:avLst>
              <a:gd name="adj" fmla="val 4103"/>
            </a:avLst>
          </a:prstGeom>
          <a:solidFill>
            <a:srgbClr val="FFFFFF"/>
          </a:solidFill>
          <a:ln w="12700">
            <a:solidFill>
              <a:srgbClr val="E2E8F0"/>
            </a:solidFill>
            <a:prstDash val="solid"/>
          </a:ln>
        </p:spPr>
      </p:sp>
      <p:sp>
        <p:nvSpPr>
          <p:cNvPr id="9" name="Text 7"/>
          <p:cNvSpPr/>
          <p:nvPr/>
        </p:nvSpPr>
        <p:spPr>
          <a:xfrm>
            <a:off x="2834640" y="1828800"/>
            <a:ext cx="1508760" cy="228600"/>
          </a:xfrm>
          <a:prstGeom prst="rect">
            <a:avLst/>
          </a:prstGeom>
          <a:noFill/>
          <a:ln/>
        </p:spPr>
        <p:txBody>
          <a:bodyPr wrap="square" lIns="0" tIns="0" rIns="0" bIns="0" rtlCol="0" anchor="ctr"/>
          <a:lstStyle/>
          <a:p>
            <a:pPr indent="0" marL="0">
              <a:buNone/>
            </a:pPr>
            <a:r>
              <a:rPr lang="en-US" sz="950" b="1" dirty="0">
                <a:solidFill>
                  <a:srgbClr val="1B6AA5"/>
                </a:solidFill>
              </a:rPr>
              <a:t>PHASE 2 • Q3 2026</a:t>
            </a:r>
            <a:endParaRPr lang="en-US" sz="950" dirty="0"/>
          </a:p>
        </p:txBody>
      </p:sp>
      <p:sp>
        <p:nvSpPr>
          <p:cNvPr id="10" name="Text 8"/>
          <p:cNvSpPr/>
          <p:nvPr/>
        </p:nvSpPr>
        <p:spPr>
          <a:xfrm>
            <a:off x="2834640" y="2103120"/>
            <a:ext cx="1508760" cy="320040"/>
          </a:xfrm>
          <a:prstGeom prst="rect">
            <a:avLst/>
          </a:prstGeom>
          <a:noFill/>
          <a:ln/>
        </p:spPr>
        <p:txBody>
          <a:bodyPr wrap="square" lIns="0" tIns="0" rIns="0" bIns="0" rtlCol="0" anchor="ctr"/>
          <a:lstStyle/>
          <a:p>
            <a:pPr indent="0" marL="0">
              <a:buNone/>
            </a:pPr>
            <a:r>
              <a:rPr lang="en-US" sz="1300" b="1" dirty="0">
                <a:solidFill>
                  <a:srgbClr val="0F172A"/>
                </a:solidFill>
              </a:rPr>
              <a:t>ABB Pilot Testing</a:t>
            </a:r>
            <a:endParaRPr lang="en-US" sz="1300" dirty="0"/>
          </a:p>
        </p:txBody>
      </p:sp>
      <p:sp>
        <p:nvSpPr>
          <p:cNvPr id="11" name="Text 9"/>
          <p:cNvSpPr/>
          <p:nvPr/>
        </p:nvSpPr>
        <p:spPr>
          <a:xfrm>
            <a:off x="2834640" y="2514600"/>
            <a:ext cx="1508760" cy="1920240"/>
          </a:xfrm>
          <a:prstGeom prst="rect">
            <a:avLst/>
          </a:prstGeom>
          <a:noFill/>
          <a:ln/>
        </p:spPr>
        <p:txBody>
          <a:bodyPr wrap="square" rtlCol="0" anchor="ctr"/>
          <a:lstStyle/>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Customer pilot validation on ABB industrial motor &amp; drive feeds.</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Native connectors for ABB Ability™ edge gateways.</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Automated CSV schema inference.</a:t>
            </a:r>
            <a:endParaRPr lang="en-US" sz="1050" dirty="0"/>
          </a:p>
        </p:txBody>
      </p:sp>
      <p:sp>
        <p:nvSpPr>
          <p:cNvPr id="12" name="Shape 10"/>
          <p:cNvSpPr/>
          <p:nvPr/>
        </p:nvSpPr>
        <p:spPr>
          <a:xfrm>
            <a:off x="4663440" y="1600200"/>
            <a:ext cx="1783080" cy="3017520"/>
          </a:xfrm>
          <a:prstGeom prst="roundRect">
            <a:avLst>
              <a:gd name="adj" fmla="val 4103"/>
            </a:avLst>
          </a:prstGeom>
          <a:solidFill>
            <a:srgbClr val="FFFFFF"/>
          </a:solidFill>
          <a:ln w="12700">
            <a:solidFill>
              <a:srgbClr val="E2E8F0"/>
            </a:solidFill>
            <a:prstDash val="solid"/>
          </a:ln>
        </p:spPr>
      </p:sp>
      <p:sp>
        <p:nvSpPr>
          <p:cNvPr id="13" name="Text 11"/>
          <p:cNvSpPr/>
          <p:nvPr/>
        </p:nvSpPr>
        <p:spPr>
          <a:xfrm>
            <a:off x="4800600" y="1828800"/>
            <a:ext cx="1508760" cy="228600"/>
          </a:xfrm>
          <a:prstGeom prst="rect">
            <a:avLst/>
          </a:prstGeom>
          <a:noFill/>
          <a:ln/>
        </p:spPr>
        <p:txBody>
          <a:bodyPr wrap="square" lIns="0" tIns="0" rIns="0" bIns="0" rtlCol="0" anchor="ctr"/>
          <a:lstStyle/>
          <a:p>
            <a:pPr indent="0" marL="0">
              <a:buNone/>
            </a:pPr>
            <a:r>
              <a:rPr lang="en-US" sz="950" b="1" dirty="0">
                <a:solidFill>
                  <a:srgbClr val="6366F1"/>
                </a:solidFill>
              </a:rPr>
              <a:t>PHASE 3 • Q4 2026</a:t>
            </a:r>
            <a:endParaRPr lang="en-US" sz="950" dirty="0"/>
          </a:p>
        </p:txBody>
      </p:sp>
      <p:sp>
        <p:nvSpPr>
          <p:cNvPr id="14" name="Text 12"/>
          <p:cNvSpPr/>
          <p:nvPr/>
        </p:nvSpPr>
        <p:spPr>
          <a:xfrm>
            <a:off x="4800600" y="2103120"/>
            <a:ext cx="1508760" cy="320040"/>
          </a:xfrm>
          <a:prstGeom prst="rect">
            <a:avLst/>
          </a:prstGeom>
          <a:noFill/>
          <a:ln/>
        </p:spPr>
        <p:txBody>
          <a:bodyPr wrap="square" lIns="0" tIns="0" rIns="0" bIns="0" rtlCol="0" anchor="ctr"/>
          <a:lstStyle/>
          <a:p>
            <a:pPr indent="0" marL="0">
              <a:buNone/>
            </a:pPr>
            <a:r>
              <a:rPr lang="en-US" sz="1300" b="1" dirty="0">
                <a:solidFill>
                  <a:srgbClr val="0F172A"/>
                </a:solidFill>
              </a:rPr>
              <a:t>Edge Deployment</a:t>
            </a:r>
            <a:endParaRPr lang="en-US" sz="1300" dirty="0"/>
          </a:p>
        </p:txBody>
      </p:sp>
      <p:sp>
        <p:nvSpPr>
          <p:cNvPr id="15" name="Text 13"/>
          <p:cNvSpPr/>
          <p:nvPr/>
        </p:nvSpPr>
        <p:spPr>
          <a:xfrm>
            <a:off x="4800600" y="2514600"/>
            <a:ext cx="1508760" cy="1920240"/>
          </a:xfrm>
          <a:prstGeom prst="rect">
            <a:avLst/>
          </a:prstGeom>
          <a:noFill/>
          <a:ln/>
        </p:spPr>
        <p:txBody>
          <a:bodyPr wrap="square" rtlCol="0" anchor="ctr"/>
          <a:lstStyle/>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Lightweight ONNX model export for edge microcontrollers.</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On-device real-time sensor fault masking.</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Dynamic sensor confidence scoring.</a:t>
            </a:r>
            <a:endParaRPr lang="en-US" sz="1050" dirty="0"/>
          </a:p>
        </p:txBody>
      </p:sp>
      <p:sp>
        <p:nvSpPr>
          <p:cNvPr id="16" name="Shape 14"/>
          <p:cNvSpPr/>
          <p:nvPr/>
        </p:nvSpPr>
        <p:spPr>
          <a:xfrm>
            <a:off x="6629400" y="1600200"/>
            <a:ext cx="1783080" cy="3017520"/>
          </a:xfrm>
          <a:prstGeom prst="roundRect">
            <a:avLst>
              <a:gd name="adj" fmla="val 4103"/>
            </a:avLst>
          </a:prstGeom>
          <a:solidFill>
            <a:srgbClr val="FFFFFF"/>
          </a:solidFill>
          <a:ln w="12700">
            <a:solidFill>
              <a:srgbClr val="E2E8F0"/>
            </a:solidFill>
            <a:prstDash val="solid"/>
          </a:ln>
        </p:spPr>
      </p:sp>
      <p:sp>
        <p:nvSpPr>
          <p:cNvPr id="17" name="Text 15"/>
          <p:cNvSpPr/>
          <p:nvPr/>
        </p:nvSpPr>
        <p:spPr>
          <a:xfrm>
            <a:off x="6766560" y="1828800"/>
            <a:ext cx="1508760" cy="228600"/>
          </a:xfrm>
          <a:prstGeom prst="rect">
            <a:avLst/>
          </a:prstGeom>
          <a:noFill/>
          <a:ln/>
        </p:spPr>
        <p:txBody>
          <a:bodyPr wrap="square" lIns="0" tIns="0" rIns="0" bIns="0" rtlCol="0" anchor="ctr"/>
          <a:lstStyle/>
          <a:p>
            <a:pPr indent="0" marL="0">
              <a:buNone/>
            </a:pPr>
            <a:r>
              <a:rPr lang="en-US" sz="950" b="1" dirty="0">
                <a:solidFill>
                  <a:srgbClr val="0F172A"/>
                </a:solidFill>
              </a:rPr>
              <a:t>PHASE 4 • 2027</a:t>
            </a:r>
            <a:endParaRPr lang="en-US" sz="950" dirty="0"/>
          </a:p>
        </p:txBody>
      </p:sp>
      <p:sp>
        <p:nvSpPr>
          <p:cNvPr id="18" name="Text 16"/>
          <p:cNvSpPr/>
          <p:nvPr/>
        </p:nvSpPr>
        <p:spPr>
          <a:xfrm>
            <a:off x="6766560" y="2103120"/>
            <a:ext cx="1508760" cy="320040"/>
          </a:xfrm>
          <a:prstGeom prst="rect">
            <a:avLst/>
          </a:prstGeom>
          <a:noFill/>
          <a:ln/>
        </p:spPr>
        <p:txBody>
          <a:bodyPr wrap="square" lIns="0" tIns="0" rIns="0" bIns="0" rtlCol="0" anchor="ctr"/>
          <a:lstStyle/>
          <a:p>
            <a:pPr indent="0" marL="0">
              <a:buNone/>
            </a:pPr>
            <a:r>
              <a:rPr lang="en-US" sz="1300" b="1" dirty="0">
                <a:solidFill>
                  <a:srgbClr val="0F172A"/>
                </a:solidFill>
              </a:rPr>
              <a:t>Fleet Intelligence</a:t>
            </a:r>
            <a:endParaRPr lang="en-US" sz="1300" dirty="0"/>
          </a:p>
        </p:txBody>
      </p:sp>
      <p:sp>
        <p:nvSpPr>
          <p:cNvPr id="19" name="Text 17"/>
          <p:cNvSpPr/>
          <p:nvPr/>
        </p:nvSpPr>
        <p:spPr>
          <a:xfrm>
            <a:off x="6766560" y="2514600"/>
            <a:ext cx="1508760" cy="1920240"/>
          </a:xfrm>
          <a:prstGeom prst="rect">
            <a:avLst/>
          </a:prstGeom>
          <a:noFill/>
          <a:ln/>
        </p:spPr>
        <p:txBody>
          <a:bodyPr wrap="square" rtlCol="0" anchor="ctr"/>
          <a:lstStyle/>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Autonomous fleet-wide model retraining and selection.</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Multi-tenant cloud management portal.</a:t>
            </a:r>
            <a:endParaRPr lang="en-US" sz="1050" dirty="0"/>
          </a:p>
          <a:p>
            <a:pPr marL="342900" indent="-342900">
              <a:spcAft>
                <a:spcPts val="600"/>
              </a:spcAft>
              <a:buSzPct val="100000"/>
              <a:buChar char="•"/>
            </a:pPr>
            <a:r>
              <a:rPr lang="en-US" sz="1050" dirty="0">
                <a:solidFill>
                  <a:srgbClr val="64748B"/>
                </a:solidFill>
                <a:latin typeface="Calibri" pitchFamily="34" charset="0"/>
                <a:ea typeface="Calibri" pitchFamily="34" charset="-122"/>
                <a:cs typeface="Calibri" pitchFamily="34" charset="-120"/>
              </a:rPr>
              <a:t>Regulatory audit export standard.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731520"/>
            <a:ext cx="768096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Arial" pitchFamily="34" charset="0"/>
                <a:ea typeface="Arial" pitchFamily="34" charset="-122"/>
                <a:cs typeface="Arial" pitchFamily="34" charset="-120"/>
              </a:rPr>
              <a:t>ABB ACCELERATOR 2026 • THEME 1</a:t>
            </a:r>
            <a:endParaRPr lang="en-US" sz="1100" dirty="0"/>
          </a:p>
        </p:txBody>
      </p:sp>
      <p:sp>
        <p:nvSpPr>
          <p:cNvPr id="3" name="Text 1"/>
          <p:cNvSpPr/>
          <p:nvPr/>
        </p:nvSpPr>
        <p:spPr>
          <a:xfrm>
            <a:off x="731520" y="1051560"/>
            <a:ext cx="7680960" cy="59436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Deploy Failure Warnings You Can Trust</a:t>
            </a:r>
            <a:endParaRPr lang="en-US" sz="3200" dirty="0"/>
          </a:p>
        </p:txBody>
      </p:sp>
      <p:sp>
        <p:nvSpPr>
          <p:cNvPr id="4" name="Text 2"/>
          <p:cNvSpPr/>
          <p:nvPr/>
        </p:nvSpPr>
        <p:spPr>
          <a:xfrm>
            <a:off x="731520" y="1691640"/>
            <a:ext cx="7680960" cy="41148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Sidekick ensures predictive maintenance survives the hostile physical realities of industrial plants.</a:t>
            </a:r>
            <a:endParaRPr lang="en-US" sz="1400" dirty="0"/>
          </a:p>
        </p:txBody>
      </p:sp>
      <p:sp>
        <p:nvSpPr>
          <p:cNvPr id="5" name="Shape 3"/>
          <p:cNvSpPr/>
          <p:nvPr/>
        </p:nvSpPr>
        <p:spPr>
          <a:xfrm>
            <a:off x="731520" y="2240280"/>
            <a:ext cx="2423160" cy="1051560"/>
          </a:xfrm>
          <a:prstGeom prst="roundRect">
            <a:avLst>
              <a:gd name="adj" fmla="val 6957"/>
            </a:avLst>
          </a:prstGeom>
          <a:solidFill>
            <a:srgbClr val="151B23"/>
          </a:solidFill>
          <a:ln w="12700">
            <a:solidFill>
              <a:srgbClr val="253141"/>
            </a:solidFill>
            <a:prstDash val="solid"/>
          </a:ln>
        </p:spPr>
      </p:sp>
      <p:sp>
        <p:nvSpPr>
          <p:cNvPr id="6" name="Text 4"/>
          <p:cNvSpPr/>
          <p:nvPr/>
        </p:nvSpPr>
        <p:spPr>
          <a:xfrm>
            <a:off x="914400" y="2377440"/>
            <a:ext cx="2057400" cy="457200"/>
          </a:xfrm>
          <a:prstGeom prst="rect">
            <a:avLst/>
          </a:prstGeom>
          <a:noFill/>
          <a:ln/>
        </p:spPr>
        <p:txBody>
          <a:bodyPr wrap="square" lIns="0" tIns="0" rIns="0" bIns="0" rtlCol="0" anchor="ctr"/>
          <a:lstStyle/>
          <a:p>
            <a:pPr indent="0" marL="0">
              <a:buNone/>
            </a:pPr>
            <a:r>
              <a:rPr lang="en-US" sz="2800" b="1" dirty="0">
                <a:solidFill>
                  <a:srgbClr val="10B981"/>
                </a:solidFill>
                <a:latin typeface="Arial" pitchFamily="34" charset="0"/>
                <a:ea typeface="Arial" pitchFamily="34" charset="-122"/>
                <a:cs typeface="Arial" pitchFamily="34" charset="-120"/>
              </a:rPr>
              <a:t>98.8%</a:t>
            </a:r>
            <a:endParaRPr lang="en-US" sz="2800" dirty="0"/>
          </a:p>
        </p:txBody>
      </p:sp>
      <p:sp>
        <p:nvSpPr>
          <p:cNvPr id="7" name="Text 5"/>
          <p:cNvSpPr/>
          <p:nvPr/>
        </p:nvSpPr>
        <p:spPr>
          <a:xfrm>
            <a:off x="914400" y="2834640"/>
            <a:ext cx="2057400" cy="320040"/>
          </a:xfrm>
          <a:prstGeom prst="rect">
            <a:avLst/>
          </a:prstGeom>
          <a:noFill/>
          <a:ln/>
        </p:spPr>
        <p:txBody>
          <a:bodyPr wrap="square" lIns="0" tIns="0" rIns="0" bIns="0" rtlCol="0" anchor="ctr"/>
          <a:lstStyle/>
          <a:p>
            <a:pPr indent="0" marL="0">
              <a:buNone/>
            </a:pPr>
            <a:r>
              <a:rPr lang="en-US" sz="1150" b="1" dirty="0">
                <a:solidFill>
                  <a:srgbClr val="94A3B8"/>
                </a:solidFill>
                <a:latin typeface="Calibri" pitchFamily="34" charset="0"/>
                <a:ea typeface="Calibri" pitchFamily="34" charset="-122"/>
                <a:cs typeface="Calibri" pitchFamily="34" charset="-120"/>
              </a:rPr>
              <a:t>Worst-Case Detection</a:t>
            </a:r>
            <a:endParaRPr lang="en-US" sz="1150" dirty="0"/>
          </a:p>
        </p:txBody>
      </p:sp>
      <p:sp>
        <p:nvSpPr>
          <p:cNvPr id="8" name="Shape 6"/>
          <p:cNvSpPr/>
          <p:nvPr/>
        </p:nvSpPr>
        <p:spPr>
          <a:xfrm>
            <a:off x="3355848" y="2240280"/>
            <a:ext cx="2423160" cy="1051560"/>
          </a:xfrm>
          <a:prstGeom prst="roundRect">
            <a:avLst>
              <a:gd name="adj" fmla="val 6957"/>
            </a:avLst>
          </a:prstGeom>
          <a:solidFill>
            <a:srgbClr val="151B23"/>
          </a:solidFill>
          <a:ln w="12700">
            <a:solidFill>
              <a:srgbClr val="253141"/>
            </a:solidFill>
            <a:prstDash val="solid"/>
          </a:ln>
        </p:spPr>
      </p:sp>
      <p:sp>
        <p:nvSpPr>
          <p:cNvPr id="9" name="Text 7"/>
          <p:cNvSpPr/>
          <p:nvPr/>
        </p:nvSpPr>
        <p:spPr>
          <a:xfrm>
            <a:off x="3538728" y="2377440"/>
            <a:ext cx="2057400" cy="457200"/>
          </a:xfrm>
          <a:prstGeom prst="rect">
            <a:avLst/>
          </a:prstGeom>
          <a:noFill/>
          <a:ln/>
        </p:spPr>
        <p:txBody>
          <a:bodyPr wrap="square" lIns="0" tIns="0" rIns="0" bIns="0" rtlCol="0" anchor="ctr"/>
          <a:lstStyle/>
          <a:p>
            <a:pPr indent="0" marL="0">
              <a:buNone/>
            </a:pPr>
            <a:r>
              <a:rPr lang="en-US" sz="2800" b="1" dirty="0">
                <a:solidFill>
                  <a:srgbClr val="38BDF8"/>
                </a:solidFill>
                <a:latin typeface="Arial" pitchFamily="34" charset="0"/>
                <a:ea typeface="Arial" pitchFamily="34" charset="-122"/>
                <a:cs typeface="Arial" pitchFamily="34" charset="-120"/>
              </a:rPr>
              <a:t>0.0%</a:t>
            </a:r>
            <a:endParaRPr lang="en-US" sz="2800" dirty="0"/>
          </a:p>
        </p:txBody>
      </p:sp>
      <p:sp>
        <p:nvSpPr>
          <p:cNvPr id="10" name="Text 8"/>
          <p:cNvSpPr/>
          <p:nvPr/>
        </p:nvSpPr>
        <p:spPr>
          <a:xfrm>
            <a:off x="3538728" y="2834640"/>
            <a:ext cx="2057400" cy="320040"/>
          </a:xfrm>
          <a:prstGeom prst="rect">
            <a:avLst/>
          </a:prstGeom>
          <a:noFill/>
          <a:ln/>
        </p:spPr>
        <p:txBody>
          <a:bodyPr wrap="square" lIns="0" tIns="0" rIns="0" bIns="0" rtlCol="0" anchor="ctr"/>
          <a:lstStyle/>
          <a:p>
            <a:pPr indent="0" marL="0">
              <a:buNone/>
            </a:pPr>
            <a:r>
              <a:rPr lang="en-US" sz="1150" b="1" dirty="0">
                <a:solidFill>
                  <a:srgbClr val="94A3B8"/>
                </a:solidFill>
                <a:latin typeface="Calibri" pitchFamily="34" charset="0"/>
                <a:ea typeface="Calibri" pitchFamily="34" charset="-122"/>
                <a:cs typeface="Calibri" pitchFamily="34" charset="-120"/>
              </a:rPr>
              <a:t>Early-Alarm Burden</a:t>
            </a:r>
            <a:endParaRPr lang="en-US" sz="1150" dirty="0"/>
          </a:p>
        </p:txBody>
      </p:sp>
      <p:sp>
        <p:nvSpPr>
          <p:cNvPr id="11" name="Shape 9"/>
          <p:cNvSpPr/>
          <p:nvPr/>
        </p:nvSpPr>
        <p:spPr>
          <a:xfrm>
            <a:off x="5980176" y="2240280"/>
            <a:ext cx="2423160" cy="1051560"/>
          </a:xfrm>
          <a:prstGeom prst="roundRect">
            <a:avLst>
              <a:gd name="adj" fmla="val 6957"/>
            </a:avLst>
          </a:prstGeom>
          <a:solidFill>
            <a:srgbClr val="151B23"/>
          </a:solidFill>
          <a:ln w="12700">
            <a:solidFill>
              <a:srgbClr val="253141"/>
            </a:solidFill>
            <a:prstDash val="solid"/>
          </a:ln>
        </p:spPr>
      </p:sp>
      <p:sp>
        <p:nvSpPr>
          <p:cNvPr id="12" name="Text 10"/>
          <p:cNvSpPr/>
          <p:nvPr/>
        </p:nvSpPr>
        <p:spPr>
          <a:xfrm>
            <a:off x="6163056" y="2377440"/>
            <a:ext cx="20574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18 Cycles</a:t>
            </a:r>
            <a:endParaRPr lang="en-US" sz="2800" dirty="0"/>
          </a:p>
        </p:txBody>
      </p:sp>
      <p:sp>
        <p:nvSpPr>
          <p:cNvPr id="13" name="Text 11"/>
          <p:cNvSpPr/>
          <p:nvPr/>
        </p:nvSpPr>
        <p:spPr>
          <a:xfrm>
            <a:off x="6163056" y="2834640"/>
            <a:ext cx="2057400" cy="320040"/>
          </a:xfrm>
          <a:prstGeom prst="rect">
            <a:avLst/>
          </a:prstGeom>
          <a:noFill/>
          <a:ln/>
        </p:spPr>
        <p:txBody>
          <a:bodyPr wrap="square" lIns="0" tIns="0" rIns="0" bIns="0" rtlCol="0" anchor="ctr"/>
          <a:lstStyle/>
          <a:p>
            <a:pPr indent="0" marL="0">
              <a:buNone/>
            </a:pPr>
            <a:r>
              <a:rPr lang="en-US" sz="1150" b="1" dirty="0">
                <a:solidFill>
                  <a:srgbClr val="94A3B8"/>
                </a:solidFill>
                <a:latin typeface="Calibri" pitchFamily="34" charset="0"/>
                <a:ea typeface="Calibri" pitchFamily="34" charset="-122"/>
                <a:cs typeface="Calibri" pitchFamily="34" charset="-120"/>
              </a:rPr>
              <a:t>Advance Lead Time</a:t>
            </a:r>
            <a:endParaRPr lang="en-US" sz="1150" dirty="0"/>
          </a:p>
        </p:txBody>
      </p:sp>
      <p:sp>
        <p:nvSpPr>
          <p:cNvPr id="14" name="Shape 12"/>
          <p:cNvSpPr/>
          <p:nvPr/>
        </p:nvSpPr>
        <p:spPr>
          <a:xfrm>
            <a:off x="731520" y="3474720"/>
            <a:ext cx="7680960" cy="1051560"/>
          </a:xfrm>
          <a:prstGeom prst="roundRect">
            <a:avLst>
              <a:gd name="adj" fmla="val 6957"/>
            </a:avLst>
          </a:prstGeom>
          <a:solidFill>
            <a:srgbClr val="151B23"/>
          </a:solidFill>
          <a:ln w="12700">
            <a:solidFill>
              <a:srgbClr val="253141"/>
            </a:solidFill>
            <a:prstDash val="solid"/>
          </a:ln>
        </p:spPr>
      </p:sp>
      <p:sp>
        <p:nvSpPr>
          <p:cNvPr id="15" name="Text 13"/>
          <p:cNvSpPr/>
          <p:nvPr/>
        </p:nvSpPr>
        <p:spPr>
          <a:xfrm>
            <a:off x="960120" y="3611880"/>
            <a:ext cx="7223760" cy="228600"/>
          </a:xfrm>
          <a:prstGeom prst="rect">
            <a:avLst/>
          </a:prstGeom>
          <a:noFill/>
          <a:ln/>
        </p:spPr>
        <p:txBody>
          <a:bodyPr wrap="square" lIns="0" tIns="0" rIns="0" bIns="0" rtlCol="0" anchor="ctr"/>
          <a:lstStyle/>
          <a:p>
            <a:pPr indent="0" marL="0">
              <a:buNone/>
            </a:pPr>
            <a:r>
              <a:rPr lang="en-US" sz="1100" b="1" spc="100" kern="0" dirty="0">
                <a:solidFill>
                  <a:srgbClr val="10B981"/>
                </a:solidFill>
              </a:rPr>
              <a:t>THE ASK: PARTNER WITH US ON AN ABB INDUSTRIAL PILOT</a:t>
            </a:r>
            <a:endParaRPr lang="en-US" sz="1100" dirty="0"/>
          </a:p>
        </p:txBody>
      </p:sp>
      <p:sp>
        <p:nvSpPr>
          <p:cNvPr id="16" name="Text 14"/>
          <p:cNvSpPr/>
          <p:nvPr/>
        </p:nvSpPr>
        <p:spPr>
          <a:xfrm>
            <a:off x="960120" y="3886200"/>
            <a:ext cx="7223760" cy="502920"/>
          </a:xfrm>
          <a:prstGeom prst="rect">
            <a:avLst/>
          </a:prstGeom>
          <a:noFill/>
          <a:ln/>
        </p:spPr>
        <p:txBody>
          <a:bodyPr wrap="square" lIns="0" tIns="0" rIns="0" bIns="0" rtlCol="0" anchor="ctr"/>
          <a:lstStyle/>
          <a:p>
            <a:pPr indent="0" marL="0">
              <a:buNone/>
            </a:pPr>
            <a:r>
              <a:rPr lang="en-US" sz="1150" dirty="0">
                <a:solidFill>
                  <a:srgbClr val="F8FAFC"/>
                </a:solidFill>
                <a:latin typeface="Calibri" pitchFamily="34" charset="0"/>
                <a:ea typeface="Calibri" pitchFamily="34" charset="-122"/>
                <a:cs typeface="Calibri" pitchFamily="34" charset="-120"/>
              </a:rPr>
              <a:t>We are seeking 2 pilot test partners with high-frequency motor, turbine, or pump sensor data to validate Sidekick on live ABB customer equipment.</a:t>
            </a:r>
            <a:endParaRPr lang="en-US" sz="1150" dirty="0"/>
          </a:p>
          <a:p>
            <a:pPr indent="0" marL="0">
              <a:buNone/>
            </a:pPr>
            <a:r>
              <a:rPr lang="en-US" sz="1150" dirty="0">
                <a:solidFill>
                  <a:srgbClr val="F8FAFC"/>
                </a:solidFill>
                <a:latin typeface="Calibri" pitchFamily="34" charset="0"/>
                <a:ea typeface="Calibri" pitchFamily="34" charset="-122"/>
                <a:cs typeface="Calibri" pitchFamily="34" charset="-120"/>
              </a:rPr>
              <a:t>Contact: Adam Qablawi &amp; Kareem Massoud  •  Sidekick Core Team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2026-09-27T01:24:42Z</dcterms:created>
  <dcterms:modified xsi:type="dcterms:W3CDTF">2026-09-27T01:24:42Z</dcterms:modified>
</cp:coreProperties>
</file>